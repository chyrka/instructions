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Hello everyone.</a:t>
            </a:r>
          </a:p>
          <a:p>
            <a:r>
              <a:t>In this session we walk through how NVIDIA Omniverse is set up in the cloud. This is a demonstration — you do not need to install or configure anything.</a:t>
            </a:r>
          </a:p>
          <a:p>
            <a:r>
              <a:t>By the end you will understand how GPU quota, the G5 instance, drivers, CUDA, and Kit fit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GPU quota cannot be created by Terraform, CloudFormation, or Bicep. It is a manual portal request per region.</a:t>
            </a:r>
          </a:p>
          <a:p>
            <a:r>
              <a:t>Instances for this cohort are already prepared. We focus on the environment, the install path, and how components work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Quota is regional. Approving G5 in us-east-1 does nothing for us-west-2.</a:t>
            </a:r>
          </a:p>
          <a:p>
            <a:r>
              <a:t>G5 is not available in every AZ (example: historically weak in us-west-1). Pick a Region that has G5 capacity before you file the ticket.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concept on Azure: the NV A10 v5 family quota in the target region must cover 18 vCPUs for Standard_NV18ads_A10_v5.</a:t>
            </a:r>
          </a:p>
          <a:p>
            <a:r>
              <a:t>This is the slide that mirrors the original Azure-based template; the AWS slide before it is the target for this engagement.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Azure context slide from the original template. Connect to the VM over RDP.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A10 vs A10G: same Ampere generation, 24 GB; A10G is the AWS data-center SKU. RTX in Omniverse is supported on both.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select the G5 family because it provides NVIDIA GPUs with RTX support.</a:t>
            </a:r>
          </a:p>
          <a:p>
            <a:r>
              <a:t>AWS provides Windows Server images by default. Windows 11 needs a custom import.</a:t>
            </a:r>
          </a:p>
          <a:p>
            <a:r>
              <a:t>Security Groups apply at the instance (ENI). NACLs apply at the subnet — use SG as the primary control, NACL as a coarse extra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G5 size carries the same A10G GPU with 24 GB. Sizes differ in vCPU, host RAM and local NVMe.</a:t>
            </a:r>
          </a:p>
          <a:p>
            <a:r>
              <a:t>g5.4xlarge is the recommended workstation: closest to Standard_NV18ads_A10_v5 and comfortable for Windows + Kit + CUDA.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console top to bottom: AMI, instance type, network, storage, IAM, key pair.</a:t>
            </a:r>
          </a:p>
          <a:p>
            <a:r>
              <a:t>Windows 11 is not a stock G5 AMI — if the customer mandates Win11, plan a VHD import (BYOL) before the workshop.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Access is controlled by the Security Group: which ports, and who may connect.</a:t>
            </a:r>
          </a:p>
          <a:p>
            <a:r>
              <a:t>Never open RDP to 0.0.0.0/0. Prefer VPN / Direct Connect and a private 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Drivers: AWS PowerShell scripts for a quick GRID setup, or a manual NVIDIA install as shown later.</a:t>
            </a:r>
          </a:p>
          <a:p>
            <a:r>
              <a:t>For Omniverse RTX on Windows use the GRID / RTX Virtual Workstation branch, not the Tesla compute-only driver.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Standard_NV18ads_A10_v5 is a generation-5 VM on NVIDIA A10, suitable for RTX rendering. G5 A10G is the AWS counterpart.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optional in-guest driver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NVIDIA / AWS GRID driver first, then confirm with nvidia-smi.</a:t>
            </a:r>
          </a:p>
          <a:p>
            <a:r>
              <a:t>If nvidia-smi fails: wrong driver branch (Tesla compute-only vs GRID graphics), incomplete install, or no reboot.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Download is a manual browser action (NVIDIA login). Do not expect this step in IaC.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install, confirm the compiler and the driver still agree. Keep one known-good combo: G5 GRID driver + CUDA 13.2 + Kit 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Clone the kit-app-template, create an application from the template, build, launch.</a:t>
            </a:r>
          </a:p>
          <a:p>
            <a:r>
              <a:t>Requires Git for Windows and a working GPU driver (nvidia-smi OK) before first launch.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first-run template wizard. Defaults are recommended for a first successful launch.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here we work with USD, extensions, RTX, or Nucleus. Nucleus is a separate service (often a CPU instance + persistent disk), not something to co-host on the GPU workstation unless this is a tiny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if the customer asks “how would we run this in production?”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through this list before handing the instance to a user. Every line maps to one slide earlier in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5.xml"/><Relationship Id="rId4" Type="http://schemas.openxmlformats.org/officeDocument/2006/relationships/hyperlink" Target="https://developer.nvidia.com/cuda-downloads?target_os=Windows&amp;target_arch=x86_64&amp;target_version=11&amp;target_type=exe_local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developer.nvidia.com/cuda-downloads?target_os=Windows&amp;target_arch=x86_64&amp;target_version=11&amp;target_type=exe_local" TargetMode="External"/><Relationship Id="rId4" Type="http://schemas.openxmlformats.org/officeDocument/2006/relationships/hyperlink" Target="https://catalog.ngc.nvidia.com/orgs/nvidia/teams/omniverse/collections/kit" TargetMode="External"/><Relationship Id="rId5" Type="http://schemas.openxmlformats.org/officeDocument/2006/relationships/hyperlink" Target="https://catalog.ngc.nvidia.com/orgs/nvidia/teams/omniverse/collections/enterprise-nucleus/artifacts" TargetMode="External"/><Relationship Id="rId6" Type="http://schemas.openxmlformats.org/officeDocument/2006/relationships/hyperlink" Target="https://github.com/NVIDIA-Omniverse/kit-app-template" TargetMode="External"/><Relationship Id="rId7" Type="http://schemas.openxmlformats.org/officeDocument/2006/relationships/hyperlink" Target="https://aws.amazon.com/ec2/instance-types/g5/" TargetMode="External"/><Relationship Id="rId8" Type="http://schemas.openxmlformats.org/officeDocument/2006/relationships/hyperlink" Target="https://docs.aws.amazon.com/AWSEC2/latest/UserGuide/ec2-on-demand-instances.html" TargetMode="External"/><Relationship Id="rId9" Type="http://schemas.openxmlformats.org/officeDocument/2006/relationships/hyperlink" Target="https://docs.aws.amazon.com/AWSEC2/latest/WindowsGuide/install-nvidia-driver.html" TargetMode="External"/><Relationship Id="rId10" Type="http://schemas.openxmlformats.org/officeDocument/2006/relationships/hyperlink" Target="https://learn.microsoft.com/en-us/azure/virtual-machines/windows/n-series-driver-setup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ct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4023360"/>
            <a:ext cx="8229600" cy="182880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Arial"/>
              </a:rPr>
              <a:t>OMNIVERSE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Arial"/>
              </a:rPr>
              <a:t>SET UP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5943600"/>
            <a:ext cx="822960" cy="4572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5989320"/>
            <a:ext cx="8229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Arial"/>
              </a:rPr>
              <a:t>AWS G5  ·  NVIDIA A10G  ·  Omniverse Kit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167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000000"/>
                </a:solidFill>
                <a:latin typeface="Arial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35640" y="6419088"/>
            <a:ext cx="457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fld id="{63EEAAEF-A3DC-4215-A60D-D9249DFA7E93}" type="slidenum">
              <a:rPr lang="en-US" sz="900">
                <a:solidFill>
                  <a:srgbClr val="767676"/>
                </a:solidFill>
                <a:latin typeface="Arial"/>
              </a:rPr>
              <a:t>2</a:t>
            </a:fld>
          </a:p>
        </p:txBody>
      </p:sp>
      <p:pic>
        <p:nvPicPr>
          <p:cNvPr id="4" name="Picture 3" descr="nvidia_foot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9416" y="6455664"/>
            <a:ext cx="667512" cy="23362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2124944" y="6547104"/>
            <a:ext cx="73152" cy="31089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91840" y="1645920"/>
            <a:ext cx="6400800" cy="4617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spcAft>
                <a:spcPts val="1800"/>
              </a:spcAft>
              <a:buClr>
                <a:srgbClr val="76B900"/>
              </a:buClr>
              <a:buFont typeface="Arial"/>
              <a:buAutoNum type="arabicPeriod"/>
            </a:pPr>
            <a:r>
              <a:rPr sz="2200" b="0">
                <a:solidFill>
                  <a:srgbClr val="1A1A1A"/>
                </a:solidFill>
                <a:latin typeface="Arial"/>
              </a:rPr>
              <a:t>Requesting GPU quota</a:t>
            </a:r>
          </a:p>
          <a:p>
            <a:pPr marL="256032" indent="-256032">
              <a:spcAft>
                <a:spcPts val="1800"/>
              </a:spcAft>
              <a:buClr>
                <a:srgbClr val="76B900"/>
              </a:buClr>
              <a:buFont typeface="Arial"/>
              <a:buAutoNum type="arabicPeriod"/>
            </a:pPr>
            <a:r>
              <a:rPr sz="2200" b="0">
                <a:solidFill>
                  <a:srgbClr val="1A1A1A"/>
                </a:solidFill>
                <a:latin typeface="Arial"/>
              </a:rPr>
              <a:t>Launch virtual machine (Azure vs AWS G5)</a:t>
            </a:r>
          </a:p>
          <a:p>
            <a:pPr marL="256032" indent="-256032">
              <a:spcAft>
                <a:spcPts val="1800"/>
              </a:spcAft>
              <a:buClr>
                <a:srgbClr val="76B900"/>
              </a:buClr>
              <a:buFont typeface="Arial"/>
              <a:buAutoNum type="arabicPeriod"/>
            </a:pPr>
            <a:r>
              <a:rPr sz="2200" b="0">
                <a:solidFill>
                  <a:srgbClr val="1A1A1A"/>
                </a:solidFill>
                <a:latin typeface="Arial"/>
              </a:rPr>
              <a:t>NVIDIA GPU driver</a:t>
            </a:r>
          </a:p>
          <a:p>
            <a:pPr marL="256032" indent="-256032">
              <a:spcAft>
                <a:spcPts val="1800"/>
              </a:spcAft>
              <a:buClr>
                <a:srgbClr val="76B900"/>
              </a:buClr>
              <a:buFont typeface="Arial"/>
              <a:buAutoNum type="arabicPeriod"/>
            </a:pPr>
            <a:r>
              <a:rPr sz="2200" b="0">
                <a:solidFill>
                  <a:srgbClr val="1A1A1A"/>
                </a:solidFill>
                <a:latin typeface="Arial"/>
              </a:rPr>
              <a:t>CUDA Toolkit</a:t>
            </a:r>
          </a:p>
          <a:p>
            <a:pPr marL="256032" indent="-256032">
              <a:spcAft>
                <a:spcPts val="1800"/>
              </a:spcAft>
              <a:buClr>
                <a:srgbClr val="76B900"/>
              </a:buClr>
              <a:buFont typeface="Arial"/>
              <a:buAutoNum type="arabicPeriod"/>
            </a:pPr>
            <a:r>
              <a:rPr sz="2200" b="0">
                <a:solidFill>
                  <a:srgbClr val="1A1A1A"/>
                </a:solidFill>
                <a:latin typeface="Arial"/>
              </a:rPr>
              <a:t>Omniverse Kit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167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000000"/>
                </a:solidFill>
                <a:latin typeface="Arial"/>
              </a:rPr>
              <a:t>REQUESTING QUOTA INCREASE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35640" y="6419088"/>
            <a:ext cx="457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fld id="{C7D954D4-2A8A-470E-9630-1468F61CE89E}" type="slidenum">
              <a:rPr lang="en-US" sz="900">
                <a:solidFill>
                  <a:srgbClr val="767676"/>
                </a:solidFill>
                <a:latin typeface="Arial"/>
              </a:rPr>
              <a:t>3</a:t>
            </a:fld>
          </a:p>
        </p:txBody>
      </p:sp>
      <p:pic>
        <p:nvPicPr>
          <p:cNvPr id="4" name="Picture 3" descr="nvidia_foot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9416" y="6455664"/>
            <a:ext cx="667512" cy="23362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2124944" y="6547104"/>
            <a:ext cx="73152" cy="31089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10716768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GPU quota is a </a:t>
            </a:r>
            <a:r>
              <a:rPr sz="1400" b="1">
                <a:solidFill>
                  <a:srgbClr val="1A1A1A"/>
                </a:solidFill>
                <a:latin typeface="Arial"/>
              </a:rPr>
              <a:t>mandatory</a:t>
            </a:r>
            <a:r>
              <a:rPr sz="1400" b="0">
                <a:solidFill>
                  <a:srgbClr val="1A1A1A"/>
                </a:solidFill>
                <a:latin typeface="Arial"/>
              </a:rPr>
              <a:t> step. Without it, </a:t>
            </a:r>
            <a:r>
              <a:rPr sz="1400" b="1">
                <a:solidFill>
                  <a:srgbClr val="1A1A1A"/>
                </a:solidFill>
                <a:latin typeface="Arial"/>
              </a:rPr>
              <a:t>Launch instance</a:t>
            </a:r>
            <a:r>
              <a:rPr sz="1400" b="0">
                <a:solidFill>
                  <a:srgbClr val="1A1A1A"/>
                </a:solidFill>
                <a:latin typeface="Arial"/>
              </a:rPr>
              <a:t> fails with a vCPU limit error.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521208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4E7A00"/>
                </a:solidFill>
                <a:latin typeface="Arial"/>
              </a:rPr>
              <a:t>AWS (target for this engagement)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965960"/>
          <a:ext cx="5212080" cy="3547872"/>
        </p:xfrm>
        <a:graphic>
          <a:graphicData uri="http://schemas.openxmlformats.org/drawingml/2006/table">
            <a:tbl>
              <a:tblPr/>
              <a:tblGrid>
                <a:gridCol w="1274064"/>
                <a:gridCol w="3938016"/>
              </a:tblGrid>
              <a:tr h="34747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73152" marR="73152" marT="27432" marB="27432" anchor="ctr">
                    <a:solidFill>
                      <a:srgbClr val="2B2B2B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2B2B2B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Value</a:t>
                      </a:r>
                    </a:p>
                  </a:txBody>
                  <a:tcPr marL="73152" marR="73152" marT="27432" marB="27432" anchor="ctr">
                    <a:solidFill>
                      <a:srgbClr val="2B2B2B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2B2B2B"/>
                      </a:solidFill>
                      <a:prstDash val="solid"/>
                    </a:lnT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Family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A1A1A"/>
                          </a:solidFill>
                          <a:latin typeface="Arial"/>
                        </a:rPr>
                        <a:t>G5</a:t>
                      </a:r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 — NVIDIA </a:t>
                      </a:r>
                      <a:r>
                        <a:rPr sz="1100" b="1">
                          <a:solidFill>
                            <a:srgbClr val="1A1A1A"/>
                          </a:solidFill>
                          <a:latin typeface="Arial"/>
                        </a:rPr>
                        <a:t>A10G</a:t>
                      </a:r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 Tensor Core (24 GB VRAM)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Quota name</a:t>
                      </a:r>
                    </a:p>
                  </a:txBody>
                  <a:tcPr marL="73152" marR="73152" marT="27432" marB="27432" anchor="ctr">
                    <a:solidFill>
                      <a:srgbClr val="F5F5F5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A1A1A"/>
                          </a:solidFill>
                          <a:latin typeface="Arial"/>
                        </a:rPr>
                        <a:t>Running On-Demand G and VT instances</a:t>
                      </a:r>
                    </a:p>
                  </a:txBody>
                  <a:tcPr marL="73152" marR="73152" marT="27432" marB="27432" anchor="ctr">
                    <a:solidFill>
                      <a:srgbClr val="F5F5F5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Unit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A1A1A"/>
                          </a:solidFill>
                          <a:latin typeface="Arial"/>
                        </a:rPr>
                        <a:t>vCPUs per Region</a:t>
                      </a:r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 (not “number of VMs”)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Default</a:t>
                      </a:r>
                    </a:p>
                  </a:txBody>
                  <a:tcPr marL="73152" marR="73152" marT="27432" marB="27432" anchor="ctr">
                    <a:solidFill>
                      <a:srgbClr val="F5F5F5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Often </a:t>
                      </a:r>
                      <a:r>
                        <a:rPr sz="1100" b="1">
                          <a:solidFill>
                            <a:srgbClr val="1A1A1A"/>
                          </a:solidFill>
                          <a:latin typeface="Arial"/>
                        </a:rPr>
                        <a:t>0</a:t>
                      </a:r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 on a new account</a:t>
                      </a:r>
                    </a:p>
                  </a:txBody>
                  <a:tcPr marL="73152" marR="73152" marT="27432" marB="27432" anchor="ctr">
                    <a:solidFill>
                      <a:srgbClr val="F5F5F5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Where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AWS Console → </a:t>
                      </a:r>
                      <a:r>
                        <a:rPr sz="1100" b="1">
                          <a:solidFill>
                            <a:srgbClr val="1A1A1A"/>
                          </a:solidFill>
                          <a:latin typeface="Arial"/>
                        </a:rPr>
                        <a:t>Service Quotas</a:t>
                      </a:r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 → </a:t>
                      </a:r>
                      <a:r>
                        <a:rPr sz="1100" b="1">
                          <a:solidFill>
                            <a:srgbClr val="1A1A1A"/>
                          </a:solidFill>
                          <a:latin typeface="Arial"/>
                        </a:rPr>
                        <a:t>Amazon EC2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Filter</a:t>
                      </a:r>
                    </a:p>
                  </a:txBody>
                  <a:tcPr marL="73152" marR="73152" marT="27432" marB="27432" anchor="ctr">
                    <a:solidFill>
                      <a:srgbClr val="F5F5F5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E6B1F"/>
                          </a:solidFill>
                          <a:latin typeface="Consolas"/>
                        </a:rPr>
                        <a:t>On-Demand</a:t>
                      </a:r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 + </a:t>
                      </a:r>
                      <a:r>
                        <a:rPr sz="1100" b="0">
                          <a:solidFill>
                            <a:srgbClr val="2E6B1F"/>
                          </a:solidFill>
                          <a:latin typeface="Consolas"/>
                        </a:rPr>
                        <a:t>G and VT</a:t>
                      </a:r>
                    </a:p>
                  </a:txBody>
                  <a:tcPr marL="73152" marR="73152" marT="27432" marB="27432" anchor="ctr">
                    <a:solidFill>
                      <a:srgbClr val="F5F5F5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Do not use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Spot quota (</a:t>
                      </a:r>
                      <a:r>
                        <a:rPr sz="1100" b="0">
                          <a:solidFill>
                            <a:srgbClr val="2E6B1F"/>
                          </a:solidFill>
                          <a:latin typeface="Consolas"/>
                        </a:rPr>
                        <a:t>All G and VT Spot Instance Requests</a:t>
                      </a:r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) — will not launch On-Demand G5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90488" y="1600200"/>
            <a:ext cx="521208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4E7A00"/>
                </a:solidFill>
                <a:latin typeface="Arial"/>
              </a:rPr>
              <a:t>Recommended request (demo / workstation)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190488" y="1965960"/>
          <a:ext cx="5212078" cy="1993392"/>
        </p:xfrm>
        <a:graphic>
          <a:graphicData uri="http://schemas.openxmlformats.org/drawingml/2006/table">
            <a:tbl>
              <a:tblPr/>
              <a:tblGrid>
                <a:gridCol w="1437815"/>
                <a:gridCol w="988497"/>
                <a:gridCol w="808771"/>
                <a:gridCol w="1976995"/>
              </a:tblGrid>
              <a:tr h="34747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Use case</a:t>
                      </a:r>
                    </a:p>
                  </a:txBody>
                  <a:tcPr marL="73152" marR="73152" marT="27432" marB="27432" anchor="ctr">
                    <a:solidFill>
                      <a:srgbClr val="2B2B2B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2B2B2B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Instance</a:t>
                      </a:r>
                    </a:p>
                  </a:txBody>
                  <a:tcPr marL="73152" marR="73152" marT="27432" marB="27432" anchor="ctr">
                    <a:solidFill>
                      <a:srgbClr val="2B2B2B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2B2B2B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vCPUs</a:t>
                      </a:r>
                    </a:p>
                  </a:txBody>
                  <a:tcPr marL="73152" marR="73152" marT="27432" marB="27432" anchor="ctr">
                    <a:solidFill>
                      <a:srgbClr val="2B2B2B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2B2B2B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Why</a:t>
                      </a:r>
                    </a:p>
                  </a:txBody>
                  <a:tcPr marL="73152" marR="73152" marT="27432" marB="27432" anchor="ctr">
                    <a:solidFill>
                      <a:srgbClr val="2B2B2B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2B2B2B"/>
                      </a:solidFill>
                      <a:prstDash val="solid"/>
                    </a:lnT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Kit smoke test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E6B1F"/>
                          </a:solidFill>
                          <a:latin typeface="Consolas"/>
                        </a:rPr>
                        <a:t>g5.2xlarge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A1A1A"/>
                          </a:solidFill>
                          <a:latin typeface="Arial"/>
                        </a:rPr>
                        <a:t>8</a:t>
                      </a:r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 (+ buffer)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Minimum comfortable Windows + Kit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RTX workstation (preferred)</a:t>
                      </a:r>
                    </a:p>
                  </a:txBody>
                  <a:tcPr marL="73152" marR="73152" marT="27432" marB="27432" anchor="ctr">
                    <a:solidFill>
                      <a:srgbClr val="EEF7DC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E6B1F"/>
                          </a:solidFill>
                          <a:latin typeface="Consolas"/>
                        </a:rPr>
                        <a:t>g5.4xlarge</a:t>
                      </a:r>
                    </a:p>
                  </a:txBody>
                  <a:tcPr marL="73152" marR="73152" marT="27432" marB="27432" anchor="ctr">
                    <a:solidFill>
                      <a:srgbClr val="EEF7DC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A1A1A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73152" marR="73152" marT="27432" marB="27432" anchor="ctr">
                    <a:solidFill>
                      <a:srgbClr val="EEF7DC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Closest AWS match to Azure </a:t>
                      </a:r>
                      <a:r>
                        <a:rPr sz="1050" b="0">
                          <a:solidFill>
                            <a:srgbClr val="2E6B1F"/>
                          </a:solidFill>
                          <a:latin typeface="Consolas"/>
                        </a:rPr>
                        <a:t>Standard_NV18ads_A10_v5</a:t>
                      </a:r>
                    </a:p>
                  </a:txBody>
                  <a:tcPr marL="73152" marR="73152" marT="27432" marB="27432" anchor="ctr">
                    <a:solidFill>
                      <a:srgbClr val="EEF7DC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Heavy USD / multi-viewport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E6B1F"/>
                          </a:solidFill>
                          <a:latin typeface="Consolas"/>
                        </a:rPr>
                        <a:t>g5.8xlarge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A1A1A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More host RAM and EBS / network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190488" y="4160520"/>
            <a:ext cx="5212080" cy="822960"/>
          </a:xfrm>
          <a:prstGeom prst="rect">
            <a:avLst/>
          </a:prstGeom>
          <a:solidFill>
            <a:srgbClr val="EEF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4160520"/>
            <a:ext cx="64008" cy="82296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4160520"/>
            <a:ext cx="4983480" cy="8229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Arial"/>
              </a:rPr>
              <a:t>Always request </a:t>
            </a:r>
            <a:r>
              <a:rPr sz="1200" b="1">
                <a:solidFill>
                  <a:srgbClr val="1A1A1A"/>
                </a:solidFill>
                <a:latin typeface="Arial"/>
              </a:rPr>
              <a:t>current usage + planned G5 vCPUs + 10–30 % buffer</a:t>
            </a:r>
            <a:r>
              <a:rPr sz="1200" b="0">
                <a:solidFill>
                  <a:srgbClr val="1A1A1A"/>
                </a:solidFill>
                <a:latin typeface="Arial"/>
              </a:rPr>
              <a:t>, in the </a:t>
            </a:r>
            <a:r>
              <a:rPr sz="1200" b="1">
                <a:solidFill>
                  <a:srgbClr val="1A1A1A"/>
                </a:solidFill>
                <a:latin typeface="Arial"/>
              </a:rPr>
              <a:t>same Region</a:t>
            </a:r>
            <a:r>
              <a:rPr sz="1200" b="0">
                <a:solidFill>
                  <a:srgbClr val="1A1A1A"/>
                </a:solidFill>
                <a:latin typeface="Arial"/>
              </a:rPr>
              <a:t> where you will launch.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0488" y="5120640"/>
            <a:ext cx="5212080" cy="822960"/>
          </a:xfrm>
          <a:prstGeom prst="rect">
            <a:avLst/>
          </a:prstGeom>
          <a:solidFill>
            <a:srgbClr val="FFF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0488" y="5120640"/>
            <a:ext cx="64008" cy="822960"/>
          </a:xfrm>
          <a:prstGeom prst="rect">
            <a:avLst/>
          </a:prstGeom>
          <a:solidFill>
            <a:srgbClr val="E0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5120640"/>
            <a:ext cx="4983480" cy="8229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Arial"/>
              </a:rPr>
              <a:t>Quota is </a:t>
            </a:r>
            <a:r>
              <a:rPr sz="1200" b="1">
                <a:solidFill>
                  <a:srgbClr val="1A1A1A"/>
                </a:solidFill>
                <a:latin typeface="Arial"/>
              </a:rPr>
              <a:t>regional</a:t>
            </a:r>
            <a:r>
              <a:rPr sz="1200" b="0">
                <a:solidFill>
                  <a:srgbClr val="1A1A1A"/>
                </a:solidFill>
                <a:latin typeface="Arial"/>
              </a:rPr>
              <a:t>. Approving G5 in </a:t>
            </a:r>
            <a:r>
              <a:rPr sz="1200" b="0">
                <a:solidFill>
                  <a:srgbClr val="2E6B1F"/>
                </a:solidFill>
                <a:latin typeface="Consolas"/>
              </a:rPr>
              <a:t>us-east-1</a:t>
            </a:r>
            <a:r>
              <a:rPr sz="1200" b="0">
                <a:solidFill>
                  <a:srgbClr val="1A1A1A"/>
                </a:solidFill>
                <a:latin typeface="Arial"/>
              </a:rPr>
              <a:t> does nothing for </a:t>
            </a:r>
            <a:r>
              <a:rPr sz="1200" b="0">
                <a:solidFill>
                  <a:srgbClr val="2E6B1F"/>
                </a:solidFill>
                <a:latin typeface="Consolas"/>
              </a:rPr>
              <a:t>us-west-2</a:t>
            </a:r>
            <a:r>
              <a:rPr sz="1200" b="0">
                <a:solidFill>
                  <a:srgbClr val="1A1A1A"/>
                </a:solidFill>
                <a:latin typeface="Arial"/>
              </a:rPr>
              <a:t>. Pick a Region with G5 capacity before filing the ticket.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167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000000"/>
                </a:solidFill>
                <a:latin typeface="Arial"/>
              </a:rPr>
              <a:t>REQUESTING QUOTA INCREASE — AZURE PARALLEL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35640" y="6419088"/>
            <a:ext cx="457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fld id="{36C4CD65-249F-452A-9D4D-04F2D31657DF}" type="slidenum">
              <a:rPr lang="en-US" sz="900">
                <a:solidFill>
                  <a:srgbClr val="767676"/>
                </a:solidFill>
                <a:latin typeface="Arial"/>
              </a:rPr>
              <a:t>4</a:t>
            </a:fld>
          </a:p>
        </p:txBody>
      </p:sp>
      <p:pic>
        <p:nvPicPr>
          <p:cNvPr id="4" name="Picture 3" descr="nvidia_foot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9416" y="6455664"/>
            <a:ext cx="667512" cy="23362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2124944" y="6547104"/>
            <a:ext cx="73152" cy="31089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521208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4E7A00"/>
                </a:solidFill>
                <a:latin typeface="Arial"/>
              </a:rPr>
              <a:t>Azure (template parallel)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600200"/>
          <a:ext cx="5212080" cy="2176272"/>
        </p:xfrm>
        <a:graphic>
          <a:graphicData uri="http://schemas.openxmlformats.org/drawingml/2006/table">
            <a:tbl>
              <a:tblPr/>
              <a:tblGrid>
                <a:gridCol w="1274064"/>
                <a:gridCol w="3938016"/>
              </a:tblGrid>
              <a:tr h="34747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73152" marR="73152" marT="27432" marB="27432" anchor="ctr">
                    <a:solidFill>
                      <a:srgbClr val="2B2B2B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2B2B2B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Value</a:t>
                      </a:r>
                    </a:p>
                  </a:txBody>
                  <a:tcPr marL="73152" marR="73152" marT="27432" marB="27432" anchor="ctr">
                    <a:solidFill>
                      <a:srgbClr val="2B2B2B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2B2B2B"/>
                      </a:solidFill>
                      <a:prstDash val="solid"/>
                    </a:lnT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VM size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E6B1F"/>
                          </a:solidFill>
                          <a:latin typeface="Consolas"/>
                        </a:rPr>
                        <a:t>Standard_NV18ads_A10_v5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Need</a:t>
                      </a:r>
                    </a:p>
                  </a:txBody>
                  <a:tcPr marL="73152" marR="73152" marT="27432" marB="27432" anchor="ctr">
                    <a:solidFill>
                      <a:srgbClr val="F5F5F5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18 vCPUs</a:t>
                      </a:r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 in the NV A10 v5 family</a:t>
                      </a:r>
                    </a:p>
                  </a:txBody>
                  <a:tcPr marL="73152" marR="73152" marT="27432" marB="27432" anchor="ctr">
                    <a:solidFill>
                      <a:srgbClr val="F5F5F5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Where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Azure Portal → </a:t>
                      </a:r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Quotas</a:t>
                      </a:r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 → Compute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Filter</a:t>
                      </a:r>
                    </a:p>
                  </a:txBody>
                  <a:tcPr marL="73152" marR="73152" marT="27432" marB="27432" anchor="ctr">
                    <a:solidFill>
                      <a:srgbClr val="F5F5F5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E6B1F"/>
                          </a:solidFill>
                          <a:latin typeface="Consolas"/>
                        </a:rPr>
                        <a:t>nvadsa10v5</a:t>
                      </a:r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 · Region e.g. </a:t>
                      </a:r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East US</a:t>
                      </a:r>
                    </a:p>
                  </a:txBody>
                  <a:tcPr marL="73152" marR="73152" marT="27432" marB="27432" anchor="ctr">
                    <a:solidFill>
                      <a:srgbClr val="F5F5F5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190488" y="1188720"/>
            <a:ext cx="521208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4E7A00"/>
                </a:solidFill>
                <a:latin typeface="Arial"/>
              </a:rPr>
              <a:t>Same rule, both clouds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0488" y="1600200"/>
            <a:ext cx="5212080" cy="4663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spcAft>
                <a:spcPts val="800"/>
              </a:spcAft>
              <a:buClr>
                <a:srgbClr val="76B90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Arial"/>
              </a:rPr>
              <a:t>Quota is a </a:t>
            </a:r>
            <a:r>
              <a:rPr sz="1300" b="1">
                <a:solidFill>
                  <a:srgbClr val="1A1A1A"/>
                </a:solidFill>
                <a:latin typeface="Arial"/>
              </a:rPr>
              <a:t>manual portal request</a:t>
            </a:r>
            <a:r>
              <a:rPr sz="1300" b="0">
                <a:solidFill>
                  <a:srgbClr val="1A1A1A"/>
                </a:solidFill>
                <a:latin typeface="Arial"/>
              </a:rPr>
              <a:t> — not Terraform, CloudFormation, or Bicep.</a:t>
            </a:r>
          </a:p>
          <a:p>
            <a:pPr marL="256032" indent="-256032">
              <a:spcAft>
                <a:spcPts val="800"/>
              </a:spcAft>
              <a:buClr>
                <a:srgbClr val="76B90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Arial"/>
              </a:rPr>
              <a:t>Unit is </a:t>
            </a:r>
            <a:r>
              <a:rPr sz="1300" b="1">
                <a:solidFill>
                  <a:srgbClr val="1A1A1A"/>
                </a:solidFill>
                <a:latin typeface="Arial"/>
              </a:rPr>
              <a:t>vCPUs per Region</a:t>
            </a:r>
            <a:r>
              <a:rPr sz="1300" b="0">
                <a:solidFill>
                  <a:srgbClr val="1A1A1A"/>
                </a:solidFill>
                <a:latin typeface="Arial"/>
              </a:rPr>
              <a:t>, never “number of VMs”.</a:t>
            </a:r>
          </a:p>
          <a:p>
            <a:pPr marL="256032" indent="-256032">
              <a:spcAft>
                <a:spcPts val="800"/>
              </a:spcAft>
              <a:buClr>
                <a:srgbClr val="76B90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Arial"/>
              </a:rPr>
              <a:t>Request in the </a:t>
            </a:r>
            <a:r>
              <a:rPr sz="1300" b="1">
                <a:solidFill>
                  <a:srgbClr val="1A1A1A"/>
                </a:solidFill>
                <a:latin typeface="Arial"/>
              </a:rPr>
              <a:t>same Region</a:t>
            </a:r>
            <a:r>
              <a:rPr sz="1300" b="0">
                <a:solidFill>
                  <a:srgbClr val="1A1A1A"/>
                </a:solidFill>
                <a:latin typeface="Arial"/>
              </a:rPr>
              <a:t> you will launch in; approval is not global.</a:t>
            </a:r>
          </a:p>
          <a:p>
            <a:pPr marL="256032" indent="-256032">
              <a:spcAft>
                <a:spcPts val="800"/>
              </a:spcAft>
              <a:buClr>
                <a:srgbClr val="76B90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Arial"/>
              </a:rPr>
              <a:t>File the ticket </a:t>
            </a:r>
            <a:r>
              <a:rPr sz="1300" b="1">
                <a:solidFill>
                  <a:srgbClr val="1A1A1A"/>
                </a:solidFill>
                <a:latin typeface="Arial"/>
              </a:rPr>
              <a:t>before</a:t>
            </a:r>
            <a:r>
              <a:rPr sz="1300" b="0">
                <a:solidFill>
                  <a:srgbClr val="1A1A1A"/>
                </a:solidFill>
                <a:latin typeface="Arial"/>
              </a:rPr>
              <a:t> the workshop — approval can take hours to days.</a:t>
            </a:r>
          </a:p>
          <a:p>
            <a:pPr marL="256032" indent="-256032">
              <a:spcAft>
                <a:spcPts val="800"/>
              </a:spcAft>
              <a:buClr>
                <a:srgbClr val="76B90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Arial"/>
              </a:rPr>
              <a:t>Do not confuse </a:t>
            </a:r>
            <a:r>
              <a:rPr sz="1300" b="1">
                <a:solidFill>
                  <a:srgbClr val="1A1A1A"/>
                </a:solidFill>
                <a:latin typeface="Arial"/>
              </a:rPr>
              <a:t>On-Demand</a:t>
            </a:r>
            <a:r>
              <a:rPr sz="1300" b="0">
                <a:solidFill>
                  <a:srgbClr val="1A1A1A"/>
                </a:solidFill>
                <a:latin typeface="Arial"/>
              </a:rPr>
              <a:t> quota with </a:t>
            </a:r>
            <a:r>
              <a:rPr sz="1300" b="1">
                <a:solidFill>
                  <a:srgbClr val="1A1A1A"/>
                </a:solidFill>
                <a:latin typeface="Arial"/>
              </a:rPr>
              <a:t>Spot</a:t>
            </a:r>
            <a:r>
              <a:rPr sz="1300" b="0">
                <a:solidFill>
                  <a:srgbClr val="1A1A1A"/>
                </a:solidFill>
                <a:latin typeface="Arial"/>
              </a:rPr>
              <a:t> quota.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ct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5806440"/>
            <a:ext cx="8229600" cy="64008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rial"/>
              </a:rPr>
              <a:t>LAUNCH VIRTUAL MACHINE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167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000000"/>
                </a:solidFill>
                <a:latin typeface="Arial"/>
              </a:rPr>
              <a:t>LAUNCH AZURE VIRTUAL MACHINE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35640" y="6419088"/>
            <a:ext cx="457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fld id="{1F3D84E0-E3E5-4ABA-9292-BC1EC6FCE092}" type="slidenum">
              <a:rPr lang="en-US" sz="900">
                <a:solidFill>
                  <a:srgbClr val="767676"/>
                </a:solidFill>
                <a:latin typeface="Arial"/>
              </a:rPr>
              <a:t>6</a:t>
            </a:fld>
          </a:p>
        </p:txBody>
      </p:sp>
      <p:pic>
        <p:nvPicPr>
          <p:cNvPr id="4" name="Picture 3" descr="nvidia_foot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9416" y="6455664"/>
            <a:ext cx="667512" cy="23362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2124944" y="6547104"/>
            <a:ext cx="73152" cy="31089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10716768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Connect to the virtual machine over </a:t>
            </a:r>
            <a:r>
              <a:rPr sz="1500" b="1">
                <a:solidFill>
                  <a:srgbClr val="1A1A1A"/>
                </a:solidFill>
                <a:latin typeface="Arial"/>
              </a:rPr>
              <a:t>RDP</a:t>
            </a:r>
            <a:r>
              <a:rPr sz="1500" b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521208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4E7A00"/>
                </a:solidFill>
                <a:latin typeface="Arial"/>
              </a:rPr>
              <a:t>Typical training SKU from the 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48840"/>
            <a:ext cx="5212080" cy="4114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spcAft>
                <a:spcPts val="1000"/>
              </a:spcAft>
              <a:buClr>
                <a:srgbClr val="76B90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Arial"/>
              </a:rPr>
              <a:t>Size: </a:t>
            </a:r>
            <a:r>
              <a:rPr sz="1400" b="0">
                <a:solidFill>
                  <a:srgbClr val="2E6B1F"/>
                </a:solidFill>
                <a:latin typeface="Consolas"/>
              </a:rPr>
              <a:t>Standard_NV18ads_A10_v5</a:t>
            </a:r>
          </a:p>
          <a:p>
            <a:pPr marL="256032" indent="-256032">
              <a:spcAft>
                <a:spcPts val="1000"/>
              </a:spcAft>
              <a:buClr>
                <a:srgbClr val="76B90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Arial"/>
              </a:rPr>
              <a:t>GPU: NVIDIA </a:t>
            </a:r>
            <a:r>
              <a:rPr sz="1400" b="1">
                <a:solidFill>
                  <a:srgbClr val="1A1A1A"/>
                </a:solidFill>
                <a:latin typeface="Arial"/>
              </a:rPr>
              <a:t>A10</a:t>
            </a:r>
          </a:p>
          <a:p>
            <a:pPr marL="256032" indent="-256032">
              <a:spcAft>
                <a:spcPts val="1000"/>
              </a:spcAft>
              <a:buClr>
                <a:srgbClr val="76B90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Arial"/>
              </a:rPr>
              <a:t>OS: Windows 11 Pro / Enterprise image</a:t>
            </a:r>
          </a:p>
          <a:p>
            <a:pPr marL="256032" indent="-256032">
              <a:spcAft>
                <a:spcPts val="1000"/>
              </a:spcAft>
              <a:buClr>
                <a:srgbClr val="76B90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Arial"/>
              </a:rPr>
              <a:t>Access: RDP </a:t>
            </a:r>
            <a:r>
              <a:rPr sz="1400" b="1">
                <a:solidFill>
                  <a:srgbClr val="1A1A1A"/>
                </a:solidFill>
                <a:latin typeface="Arial"/>
              </a:rPr>
              <a:t>3389</a:t>
            </a:r>
            <a:r>
              <a:rPr sz="1400" b="0">
                <a:solidFill>
                  <a:srgbClr val="1A1A1A"/>
                </a:solidFill>
                <a:latin typeface="Arial"/>
              </a:rPr>
              <a:t> only from corporate CIDR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0488" y="2148840"/>
            <a:ext cx="5212080" cy="1188720"/>
          </a:xfrm>
          <a:prstGeom prst="rect">
            <a:avLst/>
          </a:prstGeom>
          <a:solidFill>
            <a:srgbClr val="EEF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0488" y="2148840"/>
            <a:ext cx="64008" cy="118872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27648" y="2148840"/>
            <a:ext cx="4983480" cy="11887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4E7A00"/>
                </a:solidFill>
                <a:latin typeface="Arial"/>
              </a:rPr>
              <a:t>Why it maps 1:1 to AWS G5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Two clouds, one GPU class: </a:t>
            </a:r>
            <a:r>
              <a:rPr sz="1300" b="1">
                <a:solidFill>
                  <a:srgbClr val="1A1A1A"/>
                </a:solidFill>
                <a:latin typeface="Arial"/>
              </a:rPr>
              <a:t>NVIDIA Ampere A10 / A10G</a:t>
            </a:r>
            <a:r>
              <a:rPr sz="1300" b="0">
                <a:solidFill>
                  <a:srgbClr val="1A1A1A"/>
                </a:solidFill>
                <a:latin typeface="Arial"/>
              </a:rPr>
              <a:t> for RTX. Everything after the VM launch (driver → CUDA → Kit) is identical on Azure and AWS.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167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000000"/>
                </a:solidFill>
                <a:latin typeface="Arial"/>
              </a:rPr>
              <a:t>LAUNCH AZURE VIRTUAL MACHINE — AWS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35640" y="6419088"/>
            <a:ext cx="457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fld id="{DCA71C0C-CE0E-4688-AF21-C0E1298B7D4C}" type="slidenum">
              <a:rPr lang="en-US" sz="900">
                <a:solidFill>
                  <a:srgbClr val="767676"/>
                </a:solidFill>
                <a:latin typeface="Arial"/>
              </a:rPr>
              <a:t>7</a:t>
            </a:fld>
          </a:p>
        </p:txBody>
      </p:sp>
      <p:pic>
        <p:nvPicPr>
          <p:cNvPr id="4" name="Picture 3" descr="nvidia_foot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9416" y="6455664"/>
            <a:ext cx="667512" cy="23362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2124944" y="6547104"/>
            <a:ext cx="73152" cy="31089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188720"/>
          <a:ext cx="10716768" cy="3182112"/>
        </p:xfrm>
        <a:graphic>
          <a:graphicData uri="http://schemas.openxmlformats.org/drawingml/2006/table">
            <a:tbl>
              <a:tblPr/>
              <a:tblGrid>
                <a:gridCol w="5358384"/>
                <a:gridCol w="5358384"/>
              </a:tblGrid>
              <a:tr h="34747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Azure</a:t>
                      </a:r>
                    </a:p>
                  </a:txBody>
                  <a:tcPr marL="73152" marR="73152" marT="27432" marB="27432" anchor="ctr">
                    <a:solidFill>
                      <a:srgbClr val="2B2B2B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2B2B2B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AWS G5 equivalent</a:t>
                      </a:r>
                    </a:p>
                  </a:txBody>
                  <a:tcPr marL="73152" marR="73152" marT="27432" marB="27432" anchor="ctr">
                    <a:solidFill>
                      <a:srgbClr val="2B2B2B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2B2B2B"/>
                      </a:solidFill>
                      <a:prstDash val="solid"/>
                    </a:lnT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E6B1F"/>
                          </a:solidFill>
                          <a:latin typeface="Consolas"/>
                        </a:rPr>
                        <a:t>Standard_NV18ads_A10_v5</a:t>
                      </a:r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 (18 vCPU, A10)</a:t>
                      </a:r>
                    </a:p>
                  </a:txBody>
                  <a:tcPr marL="73152" marR="73152" marT="27432" marB="27432" anchor="ctr">
                    <a:solidFill>
                      <a:srgbClr val="EEF7DC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2E6B1F"/>
                          </a:solidFill>
                          <a:latin typeface="Consolas"/>
                        </a:rPr>
                        <a:t>g5.4xlarge</a:t>
                      </a:r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 (16 vCPU, 64 GiB, </a:t>
                      </a:r>
                      <a:r>
                        <a:rPr sz="1300" b="1">
                          <a:solidFill>
                            <a:srgbClr val="1A1A1A"/>
                          </a:solidFill>
                          <a:latin typeface="Arial"/>
                        </a:rPr>
                        <a:t>1× A10G 24 GB</a:t>
                      </a:r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)</a:t>
                      </a:r>
                    </a:p>
                  </a:txBody>
                  <a:tcPr marL="73152" marR="73152" marT="27432" marB="27432" anchor="ctr">
                    <a:solidFill>
                      <a:srgbClr val="EEF7DC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Resource group + VNet + NSG</a:t>
                      </a:r>
                    </a:p>
                  </a:txBody>
                  <a:tcPr marL="73152" marR="73152" marT="27432" marB="27432" anchor="ctr">
                    <a:solidFill>
                      <a:srgbClr val="F5F5F5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VPC + subnet + </a:t>
                      </a:r>
                      <a:r>
                        <a:rPr sz="1300" b="1">
                          <a:solidFill>
                            <a:srgbClr val="1A1A1A"/>
                          </a:solidFill>
                          <a:latin typeface="Arial"/>
                        </a:rPr>
                        <a:t>Security Group</a:t>
                      </a:r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 (+ optional NACL)</a:t>
                      </a:r>
                    </a:p>
                  </a:txBody>
                  <a:tcPr marL="73152" marR="73152" marT="27432" marB="27432" anchor="ctr">
                    <a:solidFill>
                      <a:srgbClr val="F5F5F5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Public IP + NIC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Elastic IP (only if required) + ENI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NVIDIA GPU Driver </a:t>
                      </a:r>
                      <a:r>
                        <a:rPr sz="1300" b="1">
                          <a:solidFill>
                            <a:srgbClr val="1A1A1A"/>
                          </a:solidFill>
                          <a:latin typeface="Arial"/>
                        </a:rPr>
                        <a:t>Extension</a:t>
                      </a:r>
                    </a:p>
                  </a:txBody>
                  <a:tcPr marL="73152" marR="73152" marT="27432" marB="27432" anchor="ctr">
                    <a:solidFill>
                      <a:srgbClr val="F5F5F5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AWS </a:t>
                      </a:r>
                      <a:r>
                        <a:rPr sz="1300" b="1">
                          <a:solidFill>
                            <a:srgbClr val="1A1A1A"/>
                          </a:solidFill>
                          <a:latin typeface="Arial"/>
                        </a:rPr>
                        <a:t>GRID / RTX vWS</a:t>
                      </a:r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 driver (or NVIDIA install)</a:t>
                      </a:r>
                    </a:p>
                  </a:txBody>
                  <a:tcPr marL="73152" marR="73152" marT="27432" marB="27432" anchor="ctr">
                    <a:solidFill>
                      <a:srgbClr val="F5F5F5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Quota: NV family vCPUs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Quota: </a:t>
                      </a:r>
                      <a:r>
                        <a:rPr sz="1300" b="1">
                          <a:solidFill>
                            <a:srgbClr val="1A1A1A"/>
                          </a:solidFill>
                          <a:latin typeface="Arial"/>
                        </a:rPr>
                        <a:t>G and VT</a:t>
                      </a:r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 On-Demand vCPUs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85800" y="4892040"/>
            <a:ext cx="10716768" cy="731520"/>
          </a:xfrm>
          <a:prstGeom prst="rect">
            <a:avLst/>
          </a:prstGeom>
          <a:solidFill>
            <a:srgbClr val="EEF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4892040"/>
            <a:ext cx="64008" cy="73152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892040"/>
            <a:ext cx="10488168" cy="7315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1A1A1A"/>
                </a:solidFill>
                <a:latin typeface="Arial"/>
              </a:rPr>
              <a:t>A10 vs A10G:</a:t>
            </a:r>
            <a:r>
              <a:rPr sz="1300" b="0">
                <a:solidFill>
                  <a:srgbClr val="1A1A1A"/>
                </a:solidFill>
                <a:latin typeface="Arial"/>
              </a:rPr>
              <a:t> same Ampere generation, 24 GB VRAM. A10G is the AWS data-center SKU. RTX in Omniverse is supported on both.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167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000000"/>
                </a:solidFill>
                <a:latin typeface="Arial"/>
              </a:rPr>
              <a:t>LAUNCH AWS INSTANCE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35640" y="6419088"/>
            <a:ext cx="457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fld id="{C1661EDA-E8DF-48DD-A0CC-58A5C09675E1}" type="slidenum">
              <a:rPr lang="en-US" sz="900">
                <a:solidFill>
                  <a:srgbClr val="767676"/>
                </a:solidFill>
                <a:latin typeface="Arial"/>
              </a:rPr>
              <a:t>8</a:t>
            </a:fld>
          </a:p>
        </p:txBody>
      </p:sp>
      <p:pic>
        <p:nvPicPr>
          <p:cNvPr id="4" name="Picture 3" descr="nvidia_foot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9416" y="6455664"/>
            <a:ext cx="667512" cy="23362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2124944" y="6547104"/>
            <a:ext cx="73152" cy="31089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ws_launch_inst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188720"/>
            <a:ext cx="10716768" cy="5179398"/>
          </a:xfrm>
          <a:prstGeom prst="rect">
            <a:avLst/>
          </a:prstGeom>
          <a:effectLst>
            <a:outerShdw blurRad="76200" dist="38100" dir="5400000" algn="t" rotWithShape="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167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000000"/>
                </a:solidFill>
                <a:latin typeface="Arial"/>
              </a:rPr>
              <a:t>LAUNCH AWS INSTANCE — G5 FAMILY (NVIDIA A10G)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35640" y="6419088"/>
            <a:ext cx="457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fld id="{3131C63D-1ADC-4C43-8E2C-CF5AD899353C}" type="slidenum">
              <a:rPr lang="en-US" sz="900">
                <a:solidFill>
                  <a:srgbClr val="767676"/>
                </a:solidFill>
                <a:latin typeface="Arial"/>
              </a:rPr>
              <a:t>9</a:t>
            </a:fld>
          </a:p>
        </p:txBody>
      </p:sp>
      <p:pic>
        <p:nvPicPr>
          <p:cNvPr id="4" name="Picture 3" descr="nvidia_foot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9416" y="6455664"/>
            <a:ext cx="667512" cy="23362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2124944" y="6547104"/>
            <a:ext cx="73152" cy="31089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188720"/>
          <a:ext cx="10716765" cy="4005072"/>
        </p:xfrm>
        <a:graphic>
          <a:graphicData uri="http://schemas.openxmlformats.org/drawingml/2006/table">
            <a:tbl>
              <a:tblPr/>
              <a:tblGrid>
                <a:gridCol w="1869203"/>
                <a:gridCol w="872295"/>
                <a:gridCol w="872295"/>
                <a:gridCol w="1246135"/>
                <a:gridCol w="1370749"/>
                <a:gridCol w="4486088"/>
              </a:tblGrid>
              <a:tr h="34747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Instance</a:t>
                      </a:r>
                    </a:p>
                  </a:txBody>
                  <a:tcPr marL="73152" marR="73152" marT="27432" marB="27432" anchor="ctr">
                    <a:solidFill>
                      <a:srgbClr val="2B2B2B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2B2B2B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GPUs</a:t>
                      </a:r>
                    </a:p>
                  </a:txBody>
                  <a:tcPr marL="73152" marR="73152" marT="27432" marB="27432" anchor="ctr">
                    <a:solidFill>
                      <a:srgbClr val="2B2B2B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2B2B2B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vCPU</a:t>
                      </a:r>
                    </a:p>
                  </a:txBody>
                  <a:tcPr marL="73152" marR="73152" marT="27432" marB="27432" anchor="ctr">
                    <a:solidFill>
                      <a:srgbClr val="2B2B2B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2B2B2B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RAM</a:t>
                      </a:r>
                    </a:p>
                  </a:txBody>
                  <a:tcPr marL="73152" marR="73152" marT="27432" marB="27432" anchor="ctr">
                    <a:solidFill>
                      <a:srgbClr val="2B2B2B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2B2B2B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Local NVMe</a:t>
                      </a:r>
                    </a:p>
                  </a:txBody>
                  <a:tcPr marL="73152" marR="73152" marT="27432" marB="27432" anchor="ctr">
                    <a:solidFill>
                      <a:srgbClr val="2B2B2B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2B2B2B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When to use</a:t>
                      </a:r>
                    </a:p>
                  </a:txBody>
                  <a:tcPr marL="73152" marR="73152" marT="27432" marB="27432" anchor="ctr">
                    <a:solidFill>
                      <a:srgbClr val="2B2B2B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2B2B2B"/>
                      </a:solidFill>
                      <a:prstDash val="solid"/>
                    </a:lnT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E6B1F"/>
                          </a:solidFill>
                          <a:latin typeface="Consolas"/>
                        </a:rPr>
                        <a:t>g5.xlarge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16 GiB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250 GB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Too tight for Windows + Kit — avoid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E6B1F"/>
                          </a:solidFill>
                          <a:latin typeface="Consolas"/>
                        </a:rPr>
                        <a:t>g5.2xlarge</a:t>
                      </a:r>
                    </a:p>
                  </a:txBody>
                  <a:tcPr marL="73152" marR="73152" marT="27432" marB="27432" anchor="ctr">
                    <a:solidFill>
                      <a:srgbClr val="F5F5F5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5F5F5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5F5F5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32 GiB</a:t>
                      </a:r>
                    </a:p>
                  </a:txBody>
                  <a:tcPr marL="73152" marR="73152" marT="27432" marB="27432" anchor="ctr">
                    <a:solidFill>
                      <a:srgbClr val="F5F5F5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450 GB</a:t>
                      </a:r>
                    </a:p>
                  </a:txBody>
                  <a:tcPr marL="73152" marR="73152" marT="27432" marB="27432" anchor="ctr">
                    <a:solidFill>
                      <a:srgbClr val="F5F5F5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Demo / Kit launch</a:t>
                      </a:r>
                    </a:p>
                  </a:txBody>
                  <a:tcPr marL="73152" marR="73152" marT="27432" marB="27432" anchor="ctr">
                    <a:solidFill>
                      <a:srgbClr val="F5F5F5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E6B1F"/>
                          </a:solidFill>
                          <a:latin typeface="Consolas"/>
                        </a:rPr>
                        <a:t>g5.4xlarge</a:t>
                      </a:r>
                    </a:p>
                  </a:txBody>
                  <a:tcPr marL="73152" marR="73152" marT="27432" marB="27432" anchor="ctr">
                    <a:solidFill>
                      <a:srgbClr val="EEF7DC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EEF7DC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73152" marR="73152" marT="27432" marB="27432" anchor="ctr">
                    <a:solidFill>
                      <a:srgbClr val="EEF7DC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64 GiB</a:t>
                      </a:r>
                    </a:p>
                  </a:txBody>
                  <a:tcPr marL="73152" marR="73152" marT="27432" marB="27432" anchor="ctr">
                    <a:solidFill>
                      <a:srgbClr val="EEF7DC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600 GB</a:t>
                      </a:r>
                    </a:p>
                  </a:txBody>
                  <a:tcPr marL="73152" marR="73152" marT="27432" marB="27432" anchor="ctr">
                    <a:solidFill>
                      <a:srgbClr val="EEF7DC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Recommended workstation</a:t>
                      </a:r>
                    </a:p>
                  </a:txBody>
                  <a:tcPr marL="73152" marR="73152" marT="27432" marB="27432" anchor="ctr">
                    <a:solidFill>
                      <a:srgbClr val="EEF7DC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E6B1F"/>
                          </a:solidFill>
                          <a:latin typeface="Consolas"/>
                        </a:rPr>
                        <a:t>g5.8xlarge</a:t>
                      </a:r>
                    </a:p>
                  </a:txBody>
                  <a:tcPr marL="73152" marR="73152" marT="27432" marB="27432" anchor="ctr">
                    <a:solidFill>
                      <a:srgbClr val="F5F5F5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5F5F5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73152" marR="73152" marT="27432" marB="27432" anchor="ctr">
                    <a:solidFill>
                      <a:srgbClr val="F5F5F5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128 GiB</a:t>
                      </a:r>
                    </a:p>
                  </a:txBody>
                  <a:tcPr marL="73152" marR="73152" marT="27432" marB="27432" anchor="ctr">
                    <a:solidFill>
                      <a:srgbClr val="F5F5F5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900 GB</a:t>
                      </a:r>
                    </a:p>
                  </a:txBody>
                  <a:tcPr marL="73152" marR="73152" marT="27432" marB="27432" anchor="ctr">
                    <a:solidFill>
                      <a:srgbClr val="F5F5F5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Large USD assemblies</a:t>
                      </a:r>
                    </a:p>
                  </a:txBody>
                  <a:tcPr marL="73152" marR="73152" marT="27432" marB="27432" anchor="ctr">
                    <a:solidFill>
                      <a:srgbClr val="F5F5F5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E6B1F"/>
                          </a:solidFill>
                          <a:latin typeface="Consolas"/>
                        </a:rPr>
                        <a:t>g5.16xlarge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256 GiB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1900 GB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Single GPU, max host RAM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E6B1F"/>
                          </a:solidFill>
                          <a:latin typeface="Consolas"/>
                        </a:rPr>
                        <a:t>g5.12xlarge</a:t>
                      </a:r>
                    </a:p>
                  </a:txBody>
                  <a:tcPr marL="73152" marR="73152" marT="27432" marB="27432" anchor="ctr">
                    <a:solidFill>
                      <a:srgbClr val="F5F5F5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5F5F5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73152" marR="73152" marT="27432" marB="27432" anchor="ctr">
                    <a:solidFill>
                      <a:srgbClr val="F5F5F5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192 GiB</a:t>
                      </a:r>
                    </a:p>
                  </a:txBody>
                  <a:tcPr marL="73152" marR="73152" marT="27432" marB="27432" anchor="ctr">
                    <a:solidFill>
                      <a:srgbClr val="F5F5F5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3800 GB</a:t>
                      </a:r>
                    </a:p>
                  </a:txBody>
                  <a:tcPr marL="73152" marR="73152" marT="27432" marB="27432" anchor="ctr">
                    <a:solidFill>
                      <a:srgbClr val="F5F5F5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Multi-GPU (not needed for first Kit)</a:t>
                      </a:r>
                    </a:p>
                  </a:txBody>
                  <a:tcPr marL="73152" marR="73152" marT="27432" marB="27432" anchor="ctr">
                    <a:solidFill>
                      <a:srgbClr val="F5F5F5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E6B1F"/>
                          </a:solidFill>
                          <a:latin typeface="Consolas"/>
                        </a:rPr>
                        <a:t>g5.24xlarge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384 GiB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3800 GB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Farm / batch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E6B1F"/>
                          </a:solidFill>
                          <a:latin typeface="Consolas"/>
                        </a:rPr>
                        <a:t>g5.48xlarge</a:t>
                      </a:r>
                    </a:p>
                  </a:txBody>
                  <a:tcPr marL="73152" marR="73152" marT="27432" marB="27432" anchor="ctr">
                    <a:solidFill>
                      <a:srgbClr val="F5F5F5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5F5F5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192</a:t>
                      </a:r>
                    </a:p>
                  </a:txBody>
                  <a:tcPr marL="73152" marR="73152" marT="27432" marB="27432" anchor="ctr">
                    <a:solidFill>
                      <a:srgbClr val="F5F5F5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768 GiB</a:t>
                      </a:r>
                    </a:p>
                  </a:txBody>
                  <a:tcPr marL="73152" marR="73152" marT="27432" marB="27432" anchor="ctr">
                    <a:solidFill>
                      <a:srgbClr val="F5F5F5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7600 GB</a:t>
                      </a:r>
                    </a:p>
                  </a:txBody>
                  <a:tcPr marL="73152" marR="73152" marT="27432" marB="27432" anchor="ctr">
                    <a:solidFill>
                      <a:srgbClr val="F5F5F5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Max A10G density</a:t>
                      </a:r>
                    </a:p>
                  </a:txBody>
                  <a:tcPr marL="73152" marR="73152" marT="27432" marB="27432" anchor="ctr">
                    <a:solidFill>
                      <a:srgbClr val="F5F5F5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5532120"/>
            <a:ext cx="10716768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767676"/>
                </a:solidFill>
                <a:latin typeface="Arial"/>
              </a:rPr>
              <a:t>All sizes: NVIDIA </a:t>
            </a:r>
            <a:r>
              <a:rPr sz="1200" b="1">
                <a:solidFill>
                  <a:srgbClr val="767676"/>
                </a:solidFill>
                <a:latin typeface="Arial"/>
              </a:rPr>
              <a:t>A10G</a:t>
            </a:r>
            <a:r>
              <a:rPr sz="1200" b="0">
                <a:solidFill>
                  <a:srgbClr val="767676"/>
                </a:solidFill>
                <a:latin typeface="Arial"/>
              </a:rPr>
              <a:t> Tensor Core, 24 GB GDDR6 per GPU, RTX / ray tracing capable.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167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000000"/>
                </a:solidFill>
                <a:latin typeface="Arial"/>
              </a:rPr>
              <a:t>LAUNCH AWS INSTANCE — EC2 CONSOLE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35640" y="6419088"/>
            <a:ext cx="457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fld id="{AA0AA2FB-5324-4CAE-8EA9-A1CF5E7C6F84}" type="slidenum">
              <a:rPr lang="en-US" sz="900">
                <a:solidFill>
                  <a:srgbClr val="767676"/>
                </a:solidFill>
                <a:latin typeface="Arial"/>
              </a:rPr>
              <a:t>10</a:t>
            </a:fld>
          </a:p>
        </p:txBody>
      </p:sp>
      <p:pic>
        <p:nvPicPr>
          <p:cNvPr id="4" name="Picture 3" descr="nvidia_foot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9416" y="6455664"/>
            <a:ext cx="667512" cy="23362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2124944" y="6547104"/>
            <a:ext cx="73152" cy="31089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5212080" cy="5074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spcAft>
                <a:spcPts val="800"/>
              </a:spcAft>
              <a:buClr>
                <a:srgbClr val="76B900"/>
              </a:buClr>
              <a:buFont typeface="Arial"/>
              <a:buAutoNum type="arabicPeriod"/>
            </a:pPr>
            <a:r>
              <a:rPr sz="1300" b="1">
                <a:solidFill>
                  <a:srgbClr val="1A1A1A"/>
                </a:solidFill>
                <a:latin typeface="Arial"/>
              </a:rPr>
              <a:t>AMI</a:t>
            </a:r>
          </a:p>
          <a:p>
            <a:pPr marL="512064" indent="-256032">
              <a:spcAft>
                <a:spcPts val="400"/>
              </a:spcAft>
              <a:buClr>
                <a:srgbClr val="76B900"/>
              </a:buClr>
              <a:buFont typeface="Arial"/>
              <a:buChar char="–"/>
            </a:pPr>
            <a:r>
              <a:rPr sz="1200" b="0">
                <a:solidFill>
                  <a:srgbClr val="3C3C3C"/>
                </a:solidFill>
                <a:latin typeface="Arial"/>
              </a:rPr>
              <a:t>Default marketplace: </a:t>
            </a:r>
            <a:r>
              <a:rPr sz="1200" b="1">
                <a:solidFill>
                  <a:srgbClr val="3C3C3C"/>
                </a:solidFill>
                <a:latin typeface="Arial"/>
              </a:rPr>
              <a:t>Windows Server 2022 / 2025</a:t>
            </a:r>
            <a:r>
              <a:rPr sz="1200" b="0">
                <a:solidFill>
                  <a:srgbClr val="3C3C3C"/>
                </a:solidFill>
                <a:latin typeface="Arial"/>
              </a:rPr>
              <a:t>.</a:t>
            </a:r>
          </a:p>
          <a:p>
            <a:pPr marL="512064" indent="-256032">
              <a:spcAft>
                <a:spcPts val="400"/>
              </a:spcAft>
              <a:buClr>
                <a:srgbClr val="76B900"/>
              </a:buClr>
              <a:buFont typeface="Arial"/>
              <a:buChar char="–"/>
            </a:pPr>
            <a:r>
              <a:rPr sz="1200" b="1">
                <a:solidFill>
                  <a:srgbClr val="3C3C3C"/>
                </a:solidFill>
                <a:latin typeface="Arial"/>
              </a:rPr>
              <a:t>Windows 11</a:t>
            </a:r>
            <a:r>
              <a:rPr sz="1200" b="0">
                <a:solidFill>
                  <a:srgbClr val="3C3C3C"/>
                </a:solidFill>
                <a:latin typeface="Arial"/>
              </a:rPr>
              <a:t> is not a stock G5 AMI — import a custom VHD / AMI (BYOL) if the customer mandates Win11.</a:t>
            </a:r>
          </a:p>
          <a:p>
            <a:pPr marL="512064" indent="-256032">
              <a:spcAft>
                <a:spcPts val="400"/>
              </a:spcAft>
              <a:buClr>
                <a:srgbClr val="76B900"/>
              </a:buClr>
              <a:buFont typeface="Arial"/>
              <a:buChar char="–"/>
            </a:pPr>
            <a:r>
              <a:rPr sz="1200" b="0">
                <a:solidFill>
                  <a:srgbClr val="3C3C3C"/>
                </a:solidFill>
                <a:latin typeface="Arial"/>
              </a:rPr>
              <a:t>Linux / headless Kit or Isaac: </a:t>
            </a:r>
            <a:r>
              <a:rPr sz="1200" b="1">
                <a:solidFill>
                  <a:srgbClr val="3C3C3C"/>
                </a:solidFill>
                <a:latin typeface="Arial"/>
              </a:rPr>
              <a:t>NVIDIA Omniverse GPU-Optimized AMI</a:t>
            </a:r>
            <a:r>
              <a:rPr sz="1200" b="0">
                <a:solidFill>
                  <a:srgbClr val="3C3C3C"/>
                </a:solidFill>
                <a:latin typeface="Arial"/>
              </a:rPr>
              <a:t> (</a:t>
            </a:r>
            <a:r>
              <a:rPr sz="1200" b="0">
                <a:solidFill>
                  <a:srgbClr val="2E6B1F"/>
                </a:solidFill>
                <a:latin typeface="Consolas"/>
              </a:rPr>
              <a:t>g5.2xlarge</a:t>
            </a:r>
            <a:r>
              <a:rPr sz="1200" b="0">
                <a:solidFill>
                  <a:srgbClr val="3C3C3C"/>
                </a:solidFill>
                <a:latin typeface="Arial"/>
              </a:rPr>
              <a:t>+).</a:t>
            </a:r>
          </a:p>
          <a:p>
            <a:pPr marL="256032" indent="-256032">
              <a:spcAft>
                <a:spcPts val="800"/>
              </a:spcAft>
              <a:buClr>
                <a:srgbClr val="76B900"/>
              </a:buClr>
              <a:buFont typeface="Arial"/>
              <a:buAutoNum type="arabicPeriod"/>
            </a:pPr>
            <a:r>
              <a:rPr sz="1300" b="1">
                <a:solidFill>
                  <a:srgbClr val="1A1A1A"/>
                </a:solidFill>
                <a:latin typeface="Arial"/>
              </a:rPr>
              <a:t>Instance type:</a:t>
            </a:r>
            <a:r>
              <a:rPr sz="1300" b="0">
                <a:solidFill>
                  <a:srgbClr val="1A1A1A"/>
                </a:solidFill>
                <a:latin typeface="Arial"/>
              </a:rPr>
              <a:t> </a:t>
            </a:r>
            <a:r>
              <a:rPr sz="1300" b="0">
                <a:solidFill>
                  <a:srgbClr val="2E6B1F"/>
                </a:solidFill>
                <a:latin typeface="Consolas"/>
              </a:rPr>
              <a:t>g5.4xlarge</a:t>
            </a:r>
            <a:r>
              <a:rPr sz="1300" b="0">
                <a:solidFill>
                  <a:srgbClr val="1A1A1A"/>
                </a:solidFill>
                <a:latin typeface="Arial"/>
              </a:rPr>
              <a:t> (preferred) or </a:t>
            </a:r>
            <a:r>
              <a:rPr sz="1300" b="0">
                <a:solidFill>
                  <a:srgbClr val="2E6B1F"/>
                </a:solidFill>
                <a:latin typeface="Consolas"/>
              </a:rPr>
              <a:t>g5.2xlarge</a:t>
            </a:r>
            <a:r>
              <a:rPr sz="1300" b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56032" indent="-256032">
              <a:spcAft>
                <a:spcPts val="800"/>
              </a:spcAft>
              <a:buClr>
                <a:srgbClr val="76B900"/>
              </a:buClr>
              <a:buFont typeface="Arial"/>
              <a:buAutoNum type="arabicPeriod"/>
            </a:pPr>
            <a:r>
              <a:rPr sz="1300" b="1">
                <a:solidFill>
                  <a:srgbClr val="1A1A1A"/>
                </a:solidFill>
                <a:latin typeface="Arial"/>
              </a:rPr>
              <a:t>Subnet:</a:t>
            </a:r>
            <a:r>
              <a:rPr sz="1300" b="0">
                <a:solidFill>
                  <a:srgbClr val="1A1A1A"/>
                </a:solidFill>
                <a:latin typeface="Arial"/>
              </a:rPr>
              <a:t> private preferred; jump host or VPN for RDP.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0488" y="1188720"/>
            <a:ext cx="5212080" cy="5074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spcAft>
                <a:spcPts val="800"/>
              </a:spcAft>
              <a:buClr>
                <a:srgbClr val="76B900"/>
              </a:buClr>
              <a:buFont typeface="Arial"/>
              <a:buAutoNum type="arabicPeriod" startAt="4"/>
            </a:pPr>
            <a:r>
              <a:rPr sz="1300" b="1">
                <a:solidFill>
                  <a:srgbClr val="1A1A1A"/>
                </a:solidFill>
                <a:latin typeface="Arial"/>
              </a:rPr>
              <a:t>Storage:</a:t>
            </a:r>
            <a:r>
              <a:rPr sz="1300" b="0">
                <a:solidFill>
                  <a:srgbClr val="1A1A1A"/>
                </a:solidFill>
                <a:latin typeface="Arial"/>
              </a:rPr>
              <a:t> gp3 root </a:t>
            </a:r>
            <a:r>
              <a:rPr sz="1300" b="1">
                <a:solidFill>
                  <a:srgbClr val="1A1A1A"/>
                </a:solidFill>
                <a:latin typeface="Arial"/>
              </a:rPr>
              <a:t>≥ 256 GB</a:t>
            </a:r>
            <a:r>
              <a:rPr sz="1300" b="0">
                <a:solidFill>
                  <a:srgbClr val="1A1A1A"/>
                </a:solidFill>
                <a:latin typeface="Arial"/>
              </a:rPr>
              <a:t> (Kit + CUDA + USD). Instance store is ephemeral — do not keep projects only there.</a:t>
            </a:r>
          </a:p>
          <a:p>
            <a:pPr marL="256032" indent="-256032">
              <a:spcAft>
                <a:spcPts val="800"/>
              </a:spcAft>
              <a:buClr>
                <a:srgbClr val="76B900"/>
              </a:buClr>
              <a:buFont typeface="Arial"/>
              <a:buAutoNum type="arabicPeriod" startAt="4"/>
            </a:pPr>
            <a:r>
              <a:rPr sz="1300" b="1">
                <a:solidFill>
                  <a:srgbClr val="1A1A1A"/>
                </a:solidFill>
                <a:latin typeface="Arial"/>
              </a:rPr>
              <a:t>IAM:</a:t>
            </a:r>
            <a:r>
              <a:rPr sz="1300" b="0">
                <a:solidFill>
                  <a:srgbClr val="1A1A1A"/>
                </a:solidFill>
                <a:latin typeface="Arial"/>
              </a:rPr>
              <a:t> SSM Session Manager role for console access without opening 3389 to the internet.</a:t>
            </a:r>
          </a:p>
          <a:p>
            <a:pPr marL="256032" indent="-256032">
              <a:spcAft>
                <a:spcPts val="800"/>
              </a:spcAft>
              <a:buClr>
                <a:srgbClr val="76B900"/>
              </a:buClr>
              <a:buFont typeface="Arial"/>
              <a:buAutoNum type="arabicPeriod" startAt="4"/>
            </a:pPr>
            <a:r>
              <a:rPr sz="1300" b="1">
                <a:solidFill>
                  <a:srgbClr val="1A1A1A"/>
                </a:solidFill>
                <a:latin typeface="Arial"/>
              </a:rPr>
              <a:t>Key pair:</a:t>
            </a:r>
            <a:r>
              <a:rPr sz="1300" b="0">
                <a:solidFill>
                  <a:srgbClr val="1A1A1A"/>
                </a:solidFill>
                <a:latin typeface="Arial"/>
              </a:rPr>
              <a:t> required for Windows password decrypt (unless SSM + AD).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90488" y="3931920"/>
            <a:ext cx="5212080" cy="1005840"/>
          </a:xfrm>
          <a:prstGeom prst="rect">
            <a:avLst/>
          </a:prstGeom>
          <a:solidFill>
            <a:srgbClr val="EEF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0488" y="3931920"/>
            <a:ext cx="64008" cy="100584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3931920"/>
            <a:ext cx="4983480" cy="10058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4E7A00"/>
                </a:solidFill>
                <a:latin typeface="Arial"/>
              </a:rPr>
              <a:t>Network controls</a:t>
            </a:r>
          </a:p>
          <a:p>
            <a:pPr>
              <a:spcAft>
                <a:spcPts val="0"/>
              </a:spcAft>
            </a:pPr>
            <a:r>
              <a:rPr sz="1200" b="1">
                <a:solidFill>
                  <a:srgbClr val="1A1A1A"/>
                </a:solidFill>
                <a:latin typeface="Arial"/>
              </a:rPr>
              <a:t>Security Groups</a:t>
            </a:r>
            <a:r>
              <a:rPr sz="1200" b="0">
                <a:solidFill>
                  <a:srgbClr val="1A1A1A"/>
                </a:solidFill>
                <a:latin typeface="Arial"/>
              </a:rPr>
              <a:t> apply at the instance (ENI). </a:t>
            </a:r>
            <a:r>
              <a:rPr sz="1200" b="1">
                <a:solidFill>
                  <a:srgbClr val="1A1A1A"/>
                </a:solidFill>
                <a:latin typeface="Arial"/>
              </a:rPr>
              <a:t>NACLs</a:t>
            </a:r>
            <a:r>
              <a:rPr sz="1200" b="0">
                <a:solidFill>
                  <a:srgbClr val="1A1A1A"/>
                </a:solidFill>
                <a:latin typeface="Arial"/>
              </a:rPr>
              <a:t> apply at the subnet. Use the SG as the primary control and the NACL as a coarse extra layer.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167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000000"/>
                </a:solidFill>
                <a:latin typeface="Arial"/>
              </a:rPr>
              <a:t>LAUNCH AWS INSTANCE — SECURITY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35640" y="6419088"/>
            <a:ext cx="457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fld id="{D3C9774F-C4CA-403B-A144-15931FFD7A56}" type="slidenum">
              <a:rPr lang="en-US" sz="900">
                <a:solidFill>
                  <a:srgbClr val="767676"/>
                </a:solidFill>
                <a:latin typeface="Arial"/>
              </a:rPr>
              <a:t>11</a:t>
            </a:fld>
          </a:p>
        </p:txBody>
      </p:sp>
      <p:pic>
        <p:nvPicPr>
          <p:cNvPr id="4" name="Picture 3" descr="nvidia_foot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9416" y="6455664"/>
            <a:ext cx="667512" cy="23362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2124944" y="6547104"/>
            <a:ext cx="73152" cy="31089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188720"/>
          <a:ext cx="10716766" cy="2542032"/>
        </p:xfrm>
        <a:graphic>
          <a:graphicData uri="http://schemas.openxmlformats.org/drawingml/2006/table">
            <a:tbl>
              <a:tblPr/>
              <a:tblGrid>
                <a:gridCol w="1587669"/>
                <a:gridCol w="1719975"/>
                <a:gridCol w="3175338"/>
                <a:gridCol w="4233784"/>
              </a:tblGrid>
              <a:tr h="34747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Direction</a:t>
                      </a:r>
                    </a:p>
                  </a:txBody>
                  <a:tcPr marL="73152" marR="73152" marT="27432" marB="27432" anchor="ctr">
                    <a:solidFill>
                      <a:srgbClr val="2B2B2B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2B2B2B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Port</a:t>
                      </a:r>
                    </a:p>
                  </a:txBody>
                  <a:tcPr marL="73152" marR="73152" marT="27432" marB="27432" anchor="ctr">
                    <a:solidFill>
                      <a:srgbClr val="2B2B2B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2B2B2B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Source / Destination</a:t>
                      </a:r>
                    </a:p>
                  </a:txBody>
                  <a:tcPr marL="73152" marR="73152" marT="27432" marB="27432" anchor="ctr">
                    <a:solidFill>
                      <a:srgbClr val="2B2B2B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2B2B2B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Purpose</a:t>
                      </a:r>
                    </a:p>
                  </a:txBody>
                  <a:tcPr marL="73152" marR="73152" marT="27432" marB="27432" anchor="ctr">
                    <a:solidFill>
                      <a:srgbClr val="2B2B2B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2B2B2B"/>
                      </a:solidFill>
                      <a:prstDash val="solid"/>
                    </a:lnT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Inbound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TCP </a:t>
                      </a:r>
                      <a:r>
                        <a:rPr sz="1300" b="1">
                          <a:solidFill>
                            <a:srgbClr val="1A1A1A"/>
                          </a:solidFill>
                          <a:latin typeface="Arial"/>
                        </a:rPr>
                        <a:t>3389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Corporate CIDR only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RDP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Inbound</a:t>
                      </a:r>
                    </a:p>
                  </a:txBody>
                  <a:tcPr marL="73152" marR="73152" marT="27432" marB="27432" anchor="ctr">
                    <a:solidFill>
                      <a:srgbClr val="F5F5F5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TCP </a:t>
                      </a:r>
                      <a:r>
                        <a:rPr sz="1300" b="1">
                          <a:solidFill>
                            <a:srgbClr val="1A1A1A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73152" marR="73152" marT="27432" marB="27432" anchor="ctr">
                    <a:solidFill>
                      <a:srgbClr val="F5F5F5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Bastion / VPN only</a:t>
                      </a:r>
                    </a:p>
                  </a:txBody>
                  <a:tcPr marL="73152" marR="73152" marT="27432" marB="27432" anchor="ctr">
                    <a:solidFill>
                      <a:srgbClr val="F5F5F5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Linux SSH (if used)</a:t>
                      </a:r>
                    </a:p>
                  </a:txBody>
                  <a:tcPr marL="73152" marR="73152" marT="27432" marB="27432" anchor="ctr">
                    <a:solidFill>
                      <a:srgbClr val="F5F5F5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Inbound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TCP </a:t>
                      </a:r>
                      <a:r>
                        <a:rPr sz="1300" b="1">
                          <a:solidFill>
                            <a:srgbClr val="1A1A1A"/>
                          </a:solidFill>
                          <a:latin typeface="Arial"/>
                        </a:rPr>
                        <a:t>443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VPC / VPN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Nucleus / HTTPS if co-located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Outbound</a:t>
                      </a:r>
                    </a:p>
                  </a:txBody>
                  <a:tcPr marL="73152" marR="73152" marT="27432" marB="27432" anchor="ctr">
                    <a:solidFill>
                      <a:srgbClr val="F5F5F5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HTTPS </a:t>
                      </a:r>
                      <a:r>
                        <a:rPr sz="1300" b="1">
                          <a:solidFill>
                            <a:srgbClr val="1A1A1A"/>
                          </a:solidFill>
                          <a:latin typeface="Arial"/>
                        </a:rPr>
                        <a:t>443</a:t>
                      </a:r>
                    </a:p>
                  </a:txBody>
                  <a:tcPr marL="73152" marR="73152" marT="27432" marB="27432" anchor="ctr">
                    <a:solidFill>
                      <a:srgbClr val="F5F5F5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2E6B1F"/>
                          </a:solidFill>
                          <a:latin typeface="Consolas"/>
                        </a:rPr>
                        <a:t>0.0.0.0/0</a:t>
                      </a:r>
                    </a:p>
                  </a:txBody>
                  <a:tcPr marL="73152" marR="73152" marT="27432" marB="27432" anchor="ctr">
                    <a:solidFill>
                      <a:srgbClr val="F5F5F5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CUDA, NGC, GitHub, Windows Update</a:t>
                      </a:r>
                    </a:p>
                  </a:txBody>
                  <a:tcPr marL="73152" marR="73152" marT="27432" marB="27432" anchor="ctr">
                    <a:solidFill>
                      <a:srgbClr val="F5F5F5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85800" y="4251960"/>
            <a:ext cx="10716768" cy="822960"/>
          </a:xfrm>
          <a:prstGeom prst="rect">
            <a:avLst/>
          </a:prstGeom>
          <a:solidFill>
            <a:srgbClr val="FFF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4251960"/>
            <a:ext cx="64008" cy="822960"/>
          </a:xfrm>
          <a:prstGeom prst="rect">
            <a:avLst/>
          </a:prstGeom>
          <a:solidFill>
            <a:srgbClr val="E0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251960"/>
            <a:ext cx="10488168" cy="8229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1A1A1A"/>
                </a:solidFill>
                <a:latin typeface="Arial"/>
              </a:rPr>
              <a:t>Never open RDP to `0.0.0.0/0`.</a:t>
            </a:r>
            <a:r>
              <a:rPr sz="1300" b="0">
                <a:solidFill>
                  <a:srgbClr val="1A1A1A"/>
                </a:solidFill>
                <a:latin typeface="Arial"/>
              </a:rPr>
              <a:t> Prefer </a:t>
            </a:r>
            <a:r>
              <a:rPr sz="1300" b="1">
                <a:solidFill>
                  <a:srgbClr val="1A1A1A"/>
                </a:solidFill>
                <a:latin typeface="Arial"/>
              </a:rPr>
              <a:t>VPN / Direct Connect + private IP</a:t>
            </a:r>
            <a:r>
              <a:rPr sz="1300" b="0">
                <a:solidFill>
                  <a:srgbClr val="1A1A1A"/>
                </a:solidFill>
                <a:latin typeface="Arial"/>
              </a:rPr>
              <a:t>, or SSM Session Manager port-forwarding, with an MFA-protected jump host.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167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000000"/>
                </a:solidFill>
                <a:latin typeface="Arial"/>
              </a:rPr>
              <a:t>LAUNCH AWS INSTANCE — DRIVERS ON G5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35640" y="6419088"/>
            <a:ext cx="457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fld id="{25F70995-158F-4C6B-AD4E-E61049BD4DDF}" type="slidenum">
              <a:rPr lang="en-US" sz="900">
                <a:solidFill>
                  <a:srgbClr val="767676"/>
                </a:solidFill>
                <a:latin typeface="Arial"/>
              </a:rPr>
              <a:t>12</a:t>
            </a:fld>
          </a:p>
        </p:txBody>
      </p:sp>
      <p:pic>
        <p:nvPicPr>
          <p:cNvPr id="4" name="Picture 3" descr="nvidia_foot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9416" y="6455664"/>
            <a:ext cx="667512" cy="23362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2124944" y="6547104"/>
            <a:ext cx="73152" cy="31089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10716768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Two valid paths: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521208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4E7A00"/>
                </a:solidFill>
                <a:latin typeface="Arial"/>
              </a:rPr>
              <a:t>1 · AWS GRID driver  (recommended for Windows RTX / Omniverse desktop)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57400"/>
            <a:ext cx="5212080" cy="4206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spcAft>
                <a:spcPts val="800"/>
              </a:spcAft>
              <a:buClr>
                <a:srgbClr val="76B90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Arial"/>
              </a:rPr>
              <a:t>Follow </a:t>
            </a:r>
            <a:r>
              <a:rPr sz="1300" b="1">
                <a:solidFill>
                  <a:srgbClr val="1A1A1A"/>
                </a:solidFill>
                <a:latin typeface="Arial"/>
              </a:rPr>
              <a:t>Install NVIDIA drivers on Windows</a:t>
            </a:r>
            <a:r>
              <a:rPr sz="1300" b="0">
                <a:solidFill>
                  <a:srgbClr val="1A1A1A"/>
                </a:solidFill>
                <a:latin typeface="Arial"/>
              </a:rPr>
              <a:t> for </a:t>
            </a:r>
            <a:r>
              <a:rPr sz="1300" b="1">
                <a:solidFill>
                  <a:srgbClr val="1A1A1A"/>
                </a:solidFill>
                <a:latin typeface="Arial"/>
              </a:rPr>
              <a:t>G5</a:t>
            </a:r>
            <a:r>
              <a:rPr sz="1300" b="0">
                <a:solidFill>
                  <a:srgbClr val="1A1A1A"/>
                </a:solidFill>
                <a:latin typeface="Arial"/>
              </a:rPr>
              <a:t> (AWS docs).</a:t>
            </a:r>
          </a:p>
          <a:p>
            <a:pPr marL="256032" indent="-256032">
              <a:spcAft>
                <a:spcPts val="800"/>
              </a:spcAft>
              <a:buClr>
                <a:srgbClr val="76B90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Arial"/>
              </a:rPr>
              <a:t>AWS publishes PowerShell helpers that pull the GRID package from S3.</a:t>
            </a:r>
          </a:p>
          <a:p>
            <a:pPr marL="256032" indent="-256032">
              <a:spcAft>
                <a:spcPts val="800"/>
              </a:spcAft>
              <a:buClr>
                <a:srgbClr val="76B90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Arial"/>
              </a:rPr>
              <a:t>Reboot after install, then verify with </a:t>
            </a:r>
            <a:r>
              <a:rPr sz="1300" b="0">
                <a:solidFill>
                  <a:srgbClr val="2E6B1F"/>
                </a:solidFill>
                <a:latin typeface="Consolas"/>
              </a:rPr>
              <a:t>nvidia-smi</a:t>
            </a:r>
            <a:r>
              <a:rPr sz="1300" b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429000"/>
            <a:ext cx="5212080" cy="241935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3429000"/>
            <a:ext cx="64008" cy="241935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429000"/>
            <a:ext cx="4983480" cy="241935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767676"/>
                </a:solidFill>
                <a:latin typeface="Consolas"/>
              </a:rPr>
              <a:t># PowerShell (Administrator) - G5 GRID driver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E6E6E6"/>
                </a:solidFill>
                <a:latin typeface="Consolas"/>
              </a:rPr>
              <a:t>$Bucket    = "ec2-windows-nvidia-drivers"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E6E6E6"/>
                </a:solidFill>
                <a:latin typeface="Consolas"/>
              </a:rPr>
              <a:t>$KeyPrefix = "latest"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E6E6E6"/>
                </a:solidFill>
                <a:latin typeface="Consolas"/>
              </a:rPr>
              <a:t>$Objects = Get-S3Object -BucketName $Bucket `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E6E6E6"/>
                </a:solidFill>
                <a:latin typeface="Consolas"/>
              </a:rPr>
              <a:t>             -KeyPrefix $KeyPrefix -Region us-east-1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E6E6E6"/>
                </a:solidFill>
                <a:latin typeface="Consolas"/>
              </a:rPr>
              <a:t>foreach ($o in $Objects) {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E6E6E6"/>
                </a:solidFill>
                <a:latin typeface="Consolas"/>
              </a:rPr>
              <a:t>  Copy-S3Object -BucketName $Bucket -Key $o.Key `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E6E6E6"/>
                </a:solidFill>
                <a:latin typeface="Consolas"/>
              </a:rPr>
              <a:t>    -LocalFile "$home\Desktop\NVIDIA\$($o.Key)" `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E6E6E6"/>
                </a:solidFill>
                <a:latin typeface="Consolas"/>
              </a:rPr>
              <a:t>    -Region us-east-1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E6E6E6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767676"/>
                </a:solidFill>
                <a:latin typeface="Consolas"/>
              </a:rPr>
              <a:t># run the downloaded installer, then Restart-Computer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0488" y="1645920"/>
            <a:ext cx="521208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4E7A00"/>
                </a:solidFill>
                <a:latin typeface="Arial"/>
              </a:rPr>
              <a:t>2 · Manual NVIDIA package inside the 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0488" y="2057400"/>
            <a:ext cx="5212080" cy="4206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spcAft>
                <a:spcPts val="800"/>
              </a:spcAft>
              <a:buClr>
                <a:srgbClr val="76B90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Arial"/>
              </a:rPr>
              <a:t>Same idea as the Azure “optional local install” slide.</a:t>
            </a:r>
          </a:p>
          <a:p>
            <a:pPr marL="256032" indent="-256032">
              <a:spcAft>
                <a:spcPts val="800"/>
              </a:spcAft>
              <a:buClr>
                <a:srgbClr val="76B90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Arial"/>
              </a:rPr>
              <a:t>Download the </a:t>
            </a:r>
            <a:r>
              <a:rPr sz="1300" b="1">
                <a:solidFill>
                  <a:srgbClr val="1A1A1A"/>
                </a:solidFill>
                <a:latin typeface="Arial"/>
              </a:rPr>
              <a:t>RTX Virtual Workstation (vWS)</a:t>
            </a:r>
            <a:r>
              <a:rPr sz="1300" b="0">
                <a:solidFill>
                  <a:srgbClr val="1A1A1A"/>
                </a:solidFill>
                <a:latin typeface="Arial"/>
              </a:rPr>
              <a:t> / GRID branch for A10G — not Game Ready.</a:t>
            </a:r>
          </a:p>
          <a:p>
            <a:pPr marL="256032" indent="-256032">
              <a:spcAft>
                <a:spcPts val="800"/>
              </a:spcAft>
              <a:buClr>
                <a:srgbClr val="76B90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Arial"/>
              </a:rPr>
              <a:t>Requires an NVIDIA account for the download.</a:t>
            </a:r>
          </a:p>
          <a:p>
            <a:pPr marL="256032" indent="-256032">
              <a:spcAft>
                <a:spcPts val="800"/>
              </a:spcAft>
              <a:buClr>
                <a:srgbClr val="76B90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Arial"/>
              </a:rPr>
              <a:t>Reboot, then </a:t>
            </a:r>
            <a:r>
              <a:rPr sz="1300" b="0">
                <a:solidFill>
                  <a:srgbClr val="2E6B1F"/>
                </a:solidFill>
                <a:latin typeface="Consolas"/>
              </a:rPr>
              <a:t>nvidia-smi</a:t>
            </a:r>
            <a:r>
              <a:rPr sz="1300" b="0">
                <a:solidFill>
                  <a:srgbClr val="1A1A1A"/>
                </a:solidFill>
                <a:latin typeface="Arial"/>
              </a:rPr>
              <a:t> must list </a:t>
            </a:r>
            <a:r>
              <a:rPr sz="1300" b="1">
                <a:solidFill>
                  <a:srgbClr val="1A1A1A"/>
                </a:solidFill>
                <a:latin typeface="Arial"/>
              </a:rPr>
              <a:t>NVIDIA A10G</a:t>
            </a:r>
            <a:r>
              <a:rPr sz="1300" b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0488" y="4160520"/>
            <a:ext cx="5212080" cy="914400"/>
          </a:xfrm>
          <a:prstGeom prst="rect">
            <a:avLst/>
          </a:prstGeom>
          <a:solidFill>
            <a:srgbClr val="EEF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0488" y="4160520"/>
            <a:ext cx="64008" cy="9144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4160520"/>
            <a:ext cx="4983480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Arial"/>
              </a:rPr>
              <a:t>Keep </a:t>
            </a:r>
            <a:r>
              <a:rPr sz="1200" b="1">
                <a:solidFill>
                  <a:srgbClr val="1A1A1A"/>
                </a:solidFill>
                <a:latin typeface="Arial"/>
              </a:rPr>
              <a:t>one</a:t>
            </a:r>
            <a:r>
              <a:rPr sz="1200" b="0">
                <a:solidFill>
                  <a:srgbClr val="1A1A1A"/>
                </a:solidFill>
                <a:latin typeface="Arial"/>
              </a:rPr>
              <a:t> known-good combination per golden image: </a:t>
            </a:r>
            <a:r>
              <a:rPr sz="1200" b="1">
                <a:solidFill>
                  <a:srgbClr val="1A1A1A"/>
                </a:solidFill>
                <a:latin typeface="Arial"/>
              </a:rPr>
              <a:t>G5 GRID driver + CUDA 13.2 + Kit build</a:t>
            </a:r>
            <a:r>
              <a:rPr sz="1200" b="0">
                <a:solidFill>
                  <a:srgbClr val="1A1A1A"/>
                </a:solidFill>
                <a:latin typeface="Arial"/>
              </a:rPr>
              <a:t>. Snapshot the AMI once all three work.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167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000000"/>
                </a:solidFill>
                <a:latin typeface="Arial"/>
              </a:rPr>
              <a:t>LAUNCH VIRTUAL MACHINE WITH NVIDIA GPU DRIVER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35640" y="6419088"/>
            <a:ext cx="457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fld id="{D3DD87D0-2C6B-4063-98F5-B214F26487C9}" type="slidenum">
              <a:rPr lang="en-US" sz="900">
                <a:solidFill>
                  <a:srgbClr val="767676"/>
                </a:solidFill>
                <a:latin typeface="Arial"/>
              </a:rPr>
              <a:t>13</a:t>
            </a:fld>
          </a:p>
        </p:txBody>
      </p:sp>
      <p:pic>
        <p:nvPicPr>
          <p:cNvPr id="4" name="Picture 3" descr="nvidia_foot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9416" y="6455664"/>
            <a:ext cx="667512" cy="23362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2124944" y="6547104"/>
            <a:ext cx="73152" cy="31089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188720"/>
          <a:ext cx="10716768" cy="1627632"/>
        </p:xfrm>
        <a:graphic>
          <a:graphicData uri="http://schemas.openxmlformats.org/drawingml/2006/table">
            <a:tbl>
              <a:tblPr/>
              <a:tblGrid>
                <a:gridCol w="1786128"/>
                <a:gridCol w="8930640"/>
              </a:tblGrid>
              <a:tr h="34747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Cloud</a:t>
                      </a:r>
                    </a:p>
                  </a:txBody>
                  <a:tcPr marL="73152" marR="73152" marT="27432" marB="27432" anchor="ctr">
                    <a:solidFill>
                      <a:srgbClr val="2B2B2B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2B2B2B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Mechanism</a:t>
                      </a:r>
                    </a:p>
                  </a:txBody>
                  <a:tcPr marL="73152" marR="73152" marT="27432" marB="27432" anchor="ctr">
                    <a:solidFill>
                      <a:srgbClr val="2B2B2B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2B2B2B"/>
                      </a:solidFill>
                      <a:prstDash val="solid"/>
                    </a:lnT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Azure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VM extension </a:t>
                      </a:r>
                      <a:r>
                        <a:rPr sz="1400" b="1">
                          <a:solidFill>
                            <a:srgbClr val="1A1A1A"/>
                          </a:solidFill>
                          <a:latin typeface="Arial"/>
                        </a:rPr>
                        <a:t>NVIDIA GPU Driver</a:t>
                      </a:r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 (</a:t>
                      </a:r>
                      <a:r>
                        <a:rPr sz="1400" b="0">
                          <a:solidFill>
                            <a:srgbClr val="2E6B1F"/>
                          </a:solidFill>
                          <a:latin typeface="Consolas"/>
                        </a:rPr>
                        <a:t>Microsoft.HpcCompute</a:t>
                      </a:r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 / </a:t>
                      </a:r>
                      <a:r>
                        <a:rPr sz="1400" b="0">
                          <a:solidFill>
                            <a:srgbClr val="2E6B1F"/>
                          </a:solidFill>
                          <a:latin typeface="Consolas"/>
                        </a:rPr>
                        <a:t>NvidiaGpuDriverWindows</a:t>
                      </a:r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AWS G5</a:t>
                      </a:r>
                    </a:p>
                  </a:txBody>
                  <a:tcPr marL="73152" marR="73152" marT="27432" marB="27432" anchor="ctr">
                    <a:solidFill>
                      <a:srgbClr val="F5F5F5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Arial"/>
                        </a:rPr>
                        <a:t>GRID / RTX Virtual Workstation</a:t>
                      </a:r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 driver for graphics + RTX</a:t>
                      </a:r>
                    </a:p>
                  </a:txBody>
                  <a:tcPr marL="73152" marR="73152" marT="27432" marB="27432" anchor="ctr">
                    <a:solidFill>
                      <a:srgbClr val="F5F5F5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3291840"/>
            <a:ext cx="10716768" cy="2971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spcAft>
                <a:spcPts val="1000"/>
              </a:spcAft>
              <a:buClr>
                <a:srgbClr val="76B90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Arial"/>
              </a:rPr>
              <a:t>Azure SKU in the original deck: </a:t>
            </a:r>
            <a:r>
              <a:rPr sz="1400" b="0">
                <a:solidFill>
                  <a:srgbClr val="2E6B1F"/>
                </a:solidFill>
                <a:latin typeface="Consolas"/>
              </a:rPr>
              <a:t>Standard_NV18ads_A10_v5</a:t>
            </a:r>
            <a:r>
              <a:rPr sz="1400" b="0">
                <a:solidFill>
                  <a:srgbClr val="1A1A1A"/>
                </a:solidFill>
                <a:latin typeface="Arial"/>
              </a:rPr>
              <a:t> — gen-5 </a:t>
            </a:r>
            <a:r>
              <a:rPr sz="1400" b="1">
                <a:solidFill>
                  <a:srgbClr val="1A1A1A"/>
                </a:solidFill>
                <a:latin typeface="Arial"/>
              </a:rPr>
              <a:t>A10</a:t>
            </a:r>
            <a:r>
              <a:rPr sz="1400" b="0">
                <a:solidFill>
                  <a:srgbClr val="1A1A1A"/>
                </a:solidFill>
                <a:latin typeface="Arial"/>
              </a:rPr>
              <a:t>, RTX-capable.</a:t>
            </a:r>
          </a:p>
          <a:p>
            <a:pPr marL="256032" indent="-256032">
              <a:spcAft>
                <a:spcPts val="1000"/>
              </a:spcAft>
              <a:buClr>
                <a:srgbClr val="76B900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Arial"/>
              </a:rPr>
              <a:t>AWS SKU for the same class of work: </a:t>
            </a:r>
            <a:r>
              <a:rPr sz="1400" b="1">
                <a:solidFill>
                  <a:srgbClr val="2E6B1F"/>
                </a:solidFill>
                <a:latin typeface="Consolas"/>
              </a:rPr>
              <a:t>g5.4xlarge</a:t>
            </a:r>
            <a:r>
              <a:rPr sz="1400" b="0">
                <a:solidFill>
                  <a:srgbClr val="1A1A1A"/>
                </a:solidFill>
                <a:latin typeface="Arial"/>
              </a:rPr>
              <a:t> — </a:t>
            </a:r>
            <a:r>
              <a:rPr sz="1400" b="1">
                <a:solidFill>
                  <a:srgbClr val="1A1A1A"/>
                </a:solidFill>
                <a:latin typeface="Arial"/>
              </a:rPr>
              <a:t>A10G</a:t>
            </a:r>
            <a:r>
              <a:rPr sz="1400" b="0">
                <a:solidFill>
                  <a:srgbClr val="1A1A1A"/>
                </a:solidFill>
                <a:latin typeface="Arial"/>
              </a:rPr>
              <a:t>, 24 GB.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167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000000"/>
                </a:solidFill>
                <a:latin typeface="Arial"/>
              </a:rPr>
              <a:t>NVIDIA GPU DRIVER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35640" y="6419088"/>
            <a:ext cx="457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fld id="{CC5BA2CC-85BE-4054-92EA-FF9CA86A1630}" type="slidenum">
              <a:rPr lang="en-US" sz="900">
                <a:solidFill>
                  <a:srgbClr val="767676"/>
                </a:solidFill>
                <a:latin typeface="Arial"/>
              </a:rPr>
              <a:t>14</a:t>
            </a:fld>
          </a:p>
        </p:txBody>
      </p:sp>
      <p:pic>
        <p:nvPicPr>
          <p:cNvPr id="4" name="Picture 3" descr="nvidia_foot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9416" y="6455664"/>
            <a:ext cx="667512" cy="23362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2124944" y="6547104"/>
            <a:ext cx="73152" cy="31089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10716768" cy="4617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spcAft>
                <a:spcPts val="1400"/>
              </a:spcAft>
              <a:buClr>
                <a:srgbClr val="76B900"/>
              </a:buClr>
              <a:buFont typeface="Arial"/>
              <a:buChar char="•"/>
            </a:pPr>
            <a:r>
              <a:rPr sz="1600" b="0">
                <a:solidFill>
                  <a:srgbClr val="1A1A1A"/>
                </a:solidFill>
                <a:latin typeface="Arial"/>
              </a:rPr>
              <a:t>Optional / parallel path: install the NVIDIA GPU driver </a:t>
            </a:r>
            <a:r>
              <a:rPr sz="1600" b="1">
                <a:solidFill>
                  <a:srgbClr val="1A1A1A"/>
                </a:solidFill>
                <a:latin typeface="Arial"/>
              </a:rPr>
              <a:t>inside</a:t>
            </a:r>
            <a:r>
              <a:rPr sz="1600" b="0">
                <a:solidFill>
                  <a:srgbClr val="1A1A1A"/>
                </a:solidFill>
                <a:latin typeface="Arial"/>
              </a:rPr>
              <a:t> the VM (not only via the Azure extension).</a:t>
            </a:r>
          </a:p>
          <a:p>
            <a:pPr marL="256032" indent="-256032">
              <a:spcAft>
                <a:spcPts val="1400"/>
              </a:spcAft>
              <a:buClr>
                <a:srgbClr val="76B900"/>
              </a:buClr>
              <a:buFont typeface="Arial"/>
              <a:buChar char="•"/>
            </a:pPr>
            <a:r>
              <a:rPr sz="1600" b="0">
                <a:solidFill>
                  <a:srgbClr val="1A1A1A"/>
                </a:solidFill>
                <a:latin typeface="Arial"/>
              </a:rPr>
              <a:t>On AWS: after the GRID install, </a:t>
            </a:r>
            <a:r>
              <a:rPr sz="1600" b="1">
                <a:solidFill>
                  <a:srgbClr val="1A1A1A"/>
                </a:solidFill>
                <a:latin typeface="Arial"/>
              </a:rPr>
              <a:t>reboot</a:t>
            </a:r>
            <a:r>
              <a:rPr sz="1600" b="0">
                <a:solidFill>
                  <a:srgbClr val="1A1A1A"/>
                </a:solidFill>
                <a:latin typeface="Arial"/>
              </a:rPr>
              <a:t>, then verify with </a:t>
            </a:r>
            <a:r>
              <a:rPr sz="1600" b="0">
                <a:solidFill>
                  <a:srgbClr val="2E6B1F"/>
                </a:solidFill>
                <a:latin typeface="Consolas"/>
              </a:rPr>
              <a:t>nvidia-smi</a:t>
            </a:r>
            <a:r>
              <a:rPr sz="1600" b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56032" indent="-256032">
              <a:spcAft>
                <a:spcPts val="1400"/>
              </a:spcAft>
              <a:buClr>
                <a:srgbClr val="76B900"/>
              </a:buClr>
              <a:buFont typeface="Arial"/>
              <a:buChar char="•"/>
            </a:pPr>
            <a:r>
              <a:rPr sz="1600" b="0">
                <a:solidFill>
                  <a:srgbClr val="1A1A1A"/>
                </a:solidFill>
                <a:latin typeface="Arial"/>
              </a:rPr>
              <a:t>Pick the </a:t>
            </a:r>
            <a:r>
              <a:rPr sz="1600" b="1">
                <a:solidFill>
                  <a:srgbClr val="1A1A1A"/>
                </a:solidFill>
                <a:latin typeface="Arial"/>
              </a:rPr>
              <a:t>graphics</a:t>
            </a:r>
            <a:r>
              <a:rPr sz="1600" b="0">
                <a:solidFill>
                  <a:srgbClr val="1A1A1A"/>
                </a:solidFill>
                <a:latin typeface="Arial"/>
              </a:rPr>
              <a:t> branch (GRID / RTX vWS). A Tesla compute-only driver will not give you an RTX viewport.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566160"/>
            <a:ext cx="10716768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4E7A00"/>
                </a:solidFill>
                <a:latin typeface="Arial"/>
              </a:rPr>
              <a:t>Expected nvidia-smi header on a g5.4xlarge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931920"/>
            <a:ext cx="10716768" cy="143510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3931920"/>
            <a:ext cx="64008" cy="14351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931920"/>
            <a:ext cx="10488168" cy="14351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E6E6E6"/>
                </a:solidFill>
                <a:latin typeface="Consolas"/>
              </a:rPr>
              <a:t>+-----------------------------------------------------------------------------------------+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E6E6E6"/>
                </a:solidFill>
                <a:latin typeface="Consolas"/>
              </a:rPr>
              <a:t>| NVIDIA-SMI 5xx.xx        Driver Version: 5xx.xx        CUDA Version: 13.2               |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E6E6E6"/>
                </a:solidFill>
                <a:latin typeface="Consolas"/>
              </a:rPr>
              <a:t>|-----------------------------------------+------------------------+----------------------+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E6E6E6"/>
                </a:solidFill>
                <a:latin typeface="Consolas"/>
              </a:rPr>
              <a:t>| GPU  Name                  Driver-Model | Bus-Id          Disp.A | Volatile Uncorr. ECC |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E6E6E6"/>
                </a:solidFill>
                <a:latin typeface="Consolas"/>
              </a:rPr>
              <a:t>|   0  NVIDIA A10G                  WDDM  | 00000000:00:1E.0    On |                    0 |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E6E6E6"/>
                </a:solidFill>
                <a:latin typeface="Consolas"/>
              </a:rPr>
              <a:t>+-----------------------------------------+------------------------+----------------------+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167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000000"/>
                </a:solidFill>
                <a:latin typeface="Arial"/>
              </a:rPr>
              <a:t>INSTALL NVIDIA DRIVER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35640" y="6419088"/>
            <a:ext cx="457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fld id="{C99F17CA-4328-49DF-B520-79EBB4FCCDFB}" type="slidenum">
              <a:rPr lang="en-US" sz="900">
                <a:solidFill>
                  <a:srgbClr val="767676"/>
                </a:solidFill>
                <a:latin typeface="Arial"/>
              </a:rPr>
              <a:t>15</a:t>
            </a:fld>
          </a:p>
        </p:txBody>
      </p:sp>
      <p:pic>
        <p:nvPicPr>
          <p:cNvPr id="4" name="Picture 3" descr="nvidia_foot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9416" y="6455664"/>
            <a:ext cx="667512" cy="23362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2124944" y="6547104"/>
            <a:ext cx="73152" cy="31089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10716768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Use the </a:t>
            </a:r>
            <a:r>
              <a:rPr sz="1400" b="1">
                <a:solidFill>
                  <a:srgbClr val="1A1A1A"/>
                </a:solidFill>
                <a:latin typeface="Arial"/>
              </a:rPr>
              <a:t>NVIDIA / AWS GRID driver first</a:t>
            </a:r>
            <a:r>
              <a:rPr sz="1400" b="0">
                <a:solidFill>
                  <a:srgbClr val="1A1A1A"/>
                </a:solidFill>
                <a:latin typeface="Arial"/>
              </a:rPr>
              <a:t>, then confirm with </a:t>
            </a:r>
            <a:r>
              <a:rPr sz="1400" b="1">
                <a:solidFill>
                  <a:srgbClr val="2E6B1F"/>
                </a:solidFill>
                <a:latin typeface="Consolas"/>
              </a:rPr>
              <a:t>nvidia-smi</a:t>
            </a:r>
            <a:r>
              <a:rPr sz="1400" b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521208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4E7A00"/>
                </a:solidFill>
                <a:latin typeface="Arial"/>
              </a:rPr>
              <a:t>Verify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5212080" cy="4251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spcAft>
                <a:spcPts val="600"/>
              </a:spcAft>
              <a:buClr>
                <a:srgbClr val="76B900"/>
              </a:buClr>
              <a:buFont typeface="Arial"/>
              <a:buAutoNum type="arabicPeriod"/>
            </a:pPr>
            <a:r>
              <a:rPr sz="1300" b="0">
                <a:solidFill>
                  <a:srgbClr val="1A1A1A"/>
                </a:solidFill>
                <a:latin typeface="Arial"/>
              </a:rPr>
              <a:t>RDP to the instance.</a:t>
            </a:r>
          </a:p>
          <a:p>
            <a:pPr marL="256032" indent="-256032">
              <a:spcAft>
                <a:spcPts val="600"/>
              </a:spcAft>
              <a:buClr>
                <a:srgbClr val="76B900"/>
              </a:buClr>
              <a:buFont typeface="Arial"/>
              <a:buAutoNum type="arabicPeriod"/>
            </a:pPr>
            <a:r>
              <a:rPr sz="1300" b="0">
                <a:solidFill>
                  <a:srgbClr val="1A1A1A"/>
                </a:solidFill>
                <a:latin typeface="Arial"/>
              </a:rPr>
              <a:t>Open </a:t>
            </a:r>
            <a:r>
              <a:rPr sz="1300" b="1">
                <a:solidFill>
                  <a:srgbClr val="1A1A1A"/>
                </a:solidFill>
                <a:latin typeface="Arial"/>
              </a:rPr>
              <a:t>Command Prompt</a:t>
            </a:r>
            <a:r>
              <a:rPr sz="1300" b="0">
                <a:solidFill>
                  <a:srgbClr val="1A1A1A"/>
                </a:solidFill>
                <a:latin typeface="Arial"/>
              </a:rPr>
              <a:t> or </a:t>
            </a:r>
            <a:r>
              <a:rPr sz="1300" b="1">
                <a:solidFill>
                  <a:srgbClr val="1A1A1A"/>
                </a:solidFill>
                <a:latin typeface="Arial"/>
              </a:rPr>
              <a:t>PowerShell as Administrator</a:t>
            </a:r>
            <a:r>
              <a:rPr sz="1300" b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56032" indent="-256032">
              <a:spcAft>
                <a:spcPts val="600"/>
              </a:spcAft>
              <a:buClr>
                <a:srgbClr val="76B900"/>
              </a:buClr>
              <a:buFont typeface="Arial"/>
              <a:buAutoNum type="arabicPeriod"/>
            </a:pPr>
            <a:r>
              <a:rPr sz="1300" b="0">
                <a:solidFill>
                  <a:srgbClr val="1A1A1A"/>
                </a:solidFill>
                <a:latin typeface="Arial"/>
              </a:rPr>
              <a:t>Run: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246120"/>
            <a:ext cx="5212080" cy="72644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3246120"/>
            <a:ext cx="64008" cy="72644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4983480" cy="7264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>
              <a:spcAft>
                <a:spcPts val="200"/>
              </a:spcAft>
            </a:pPr>
            <a:r>
              <a:rPr sz="1200">
                <a:solidFill>
                  <a:srgbClr val="E6E6E6"/>
                </a:solidFill>
                <a:latin typeface="Consolas"/>
              </a:rPr>
              <a:t>cd "C:\Program Files\NVIDIA Corporation\NVSMI"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E6E6E6"/>
                </a:solidFill>
                <a:latin typeface="Consolas"/>
              </a:rPr>
              <a:t>nvidia-smi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069080"/>
            <a:ext cx="52120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3C3C3C"/>
                </a:solidFill>
                <a:latin typeface="Arial"/>
              </a:rPr>
              <a:t>If </a:t>
            </a:r>
            <a:r>
              <a:rPr sz="1200" b="0">
                <a:solidFill>
                  <a:srgbClr val="2E6B1F"/>
                </a:solidFill>
                <a:latin typeface="Consolas"/>
              </a:rPr>
              <a:t>NVSMI</a:t>
            </a:r>
            <a:r>
              <a:rPr sz="1200" b="0">
                <a:solidFill>
                  <a:srgbClr val="3C3C3C"/>
                </a:solidFill>
                <a:latin typeface="Arial"/>
              </a:rPr>
              <a:t> is not on that path (newer driver layouts), it is already on </a:t>
            </a:r>
            <a:r>
              <a:rPr sz="1200" b="0">
                <a:solidFill>
                  <a:srgbClr val="2E6B1F"/>
                </a:solidFill>
                <a:latin typeface="Consolas"/>
              </a:rPr>
              <a:t>PATH</a:t>
            </a:r>
            <a:r>
              <a:rPr sz="1200" b="0">
                <a:solidFill>
                  <a:srgbClr val="3C3C3C"/>
                </a:solidFill>
                <a:latin typeface="Arial"/>
              </a:rPr>
              <a:t>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480560"/>
            <a:ext cx="5212080" cy="49022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480560"/>
            <a:ext cx="64008" cy="49022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480560"/>
            <a:ext cx="4983480" cy="4902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>
              <a:spcAft>
                <a:spcPts val="200"/>
              </a:spcAft>
            </a:pPr>
            <a:r>
              <a:rPr sz="1200">
                <a:solidFill>
                  <a:srgbClr val="E6E6E6"/>
                </a:solidFill>
                <a:latin typeface="Consolas"/>
              </a:rPr>
              <a:t>nvidia-smi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0488" y="1645920"/>
            <a:ext cx="521208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4E7A00"/>
                </a:solidFill>
                <a:latin typeface="Arial"/>
              </a:rPr>
              <a:t>Expected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0488" y="2011680"/>
            <a:ext cx="5212080" cy="4251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spcAft>
                <a:spcPts val="800"/>
              </a:spcAft>
              <a:buClr>
                <a:srgbClr val="76B90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Arial"/>
              </a:rPr>
              <a:t>GPU name: </a:t>
            </a:r>
            <a:r>
              <a:rPr sz="1300" b="1">
                <a:solidFill>
                  <a:srgbClr val="1A1A1A"/>
                </a:solidFill>
                <a:latin typeface="Arial"/>
              </a:rPr>
              <a:t>NVIDIA A10G</a:t>
            </a:r>
            <a:r>
              <a:rPr sz="1300" b="0">
                <a:solidFill>
                  <a:srgbClr val="1A1A1A"/>
                </a:solidFill>
                <a:latin typeface="Arial"/>
              </a:rPr>
              <a:t> (AWS) or </a:t>
            </a:r>
            <a:r>
              <a:rPr sz="1300" b="1">
                <a:solidFill>
                  <a:srgbClr val="1A1A1A"/>
                </a:solidFill>
                <a:latin typeface="Arial"/>
              </a:rPr>
              <a:t>A10</a:t>
            </a:r>
            <a:r>
              <a:rPr sz="1300" b="0">
                <a:solidFill>
                  <a:srgbClr val="1A1A1A"/>
                </a:solidFill>
                <a:latin typeface="Arial"/>
              </a:rPr>
              <a:t> (Azure)</a:t>
            </a:r>
          </a:p>
          <a:p>
            <a:pPr marL="256032" indent="-256032">
              <a:spcAft>
                <a:spcPts val="800"/>
              </a:spcAft>
              <a:buClr>
                <a:srgbClr val="76B900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Arial"/>
              </a:rPr>
              <a:t>Driver version listed</a:t>
            </a:r>
          </a:p>
          <a:p>
            <a:pPr marL="256032" indent="-256032">
              <a:spcAft>
                <a:spcPts val="800"/>
              </a:spcAft>
              <a:buClr>
                <a:srgbClr val="76B900"/>
              </a:buClr>
              <a:buFont typeface="Arial"/>
              <a:buChar char="•"/>
            </a:pPr>
            <a:r>
              <a:rPr sz="1300" b="0">
                <a:solidFill>
                  <a:srgbClr val="2E6B1F"/>
                </a:solidFill>
                <a:latin typeface="Consolas"/>
              </a:rPr>
              <a:t>GPU-Util</a:t>
            </a:r>
            <a:r>
              <a:rPr sz="1300" b="0">
                <a:solidFill>
                  <a:srgbClr val="1A1A1A"/>
                </a:solidFill>
                <a:latin typeface="Arial"/>
              </a:rPr>
              <a:t> may be </a:t>
            </a:r>
            <a:r>
              <a:rPr sz="1300" b="0">
                <a:solidFill>
                  <a:srgbClr val="2E6B1F"/>
                </a:solidFill>
                <a:latin typeface="Consolas"/>
              </a:rPr>
              <a:t>N/A</a:t>
            </a:r>
            <a:r>
              <a:rPr sz="1300" b="0">
                <a:solidFill>
                  <a:srgbClr val="1A1A1A"/>
                </a:solidFill>
                <a:latin typeface="Arial"/>
              </a:rPr>
              <a:t> or </a:t>
            </a:r>
            <a:r>
              <a:rPr sz="1300" b="0">
                <a:solidFill>
                  <a:srgbClr val="2E6B1F"/>
                </a:solidFill>
                <a:latin typeface="Consolas"/>
              </a:rPr>
              <a:t>0%</a:t>
            </a:r>
            <a:r>
              <a:rPr sz="1300" b="0">
                <a:solidFill>
                  <a:srgbClr val="1A1A1A"/>
                </a:solidFill>
                <a:latin typeface="Arial"/>
              </a:rPr>
              <a:t> with no workload — that is normal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0488" y="3840480"/>
            <a:ext cx="5212080" cy="914400"/>
          </a:xfrm>
          <a:prstGeom prst="rect">
            <a:avLst/>
          </a:prstGeom>
          <a:solidFill>
            <a:srgbClr val="FFF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0488" y="3840480"/>
            <a:ext cx="64008" cy="914400"/>
          </a:xfrm>
          <a:prstGeom prst="rect">
            <a:avLst/>
          </a:prstGeom>
          <a:solidFill>
            <a:srgbClr val="E0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7648" y="3840480"/>
            <a:ext cx="4983480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E09A00"/>
                </a:solidFill>
                <a:latin typeface="Arial"/>
              </a:rPr>
              <a:t>If nvidia-smi fails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Arial"/>
              </a:rPr>
              <a:t>Wrong driver branch (Tesla compute-only vs GRID graphics), incomplete install, or </a:t>
            </a:r>
            <a:r>
              <a:rPr sz="1200" b="1">
                <a:solidFill>
                  <a:srgbClr val="1A1A1A"/>
                </a:solidFill>
                <a:latin typeface="Arial"/>
              </a:rPr>
              <a:t>no reboot</a:t>
            </a:r>
            <a:r>
              <a:rPr sz="1200" b="0">
                <a:solidFill>
                  <a:srgbClr val="1A1A1A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ct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5806440"/>
            <a:ext cx="8229600" cy="64008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rial"/>
              </a:rPr>
              <a:t>INSTALL CUDA TOOLKIT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167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000000"/>
                </a:solidFill>
                <a:latin typeface="Arial"/>
              </a:rPr>
              <a:t>INSTALL CUDA TOOLKIT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35640" y="6419088"/>
            <a:ext cx="457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fld id="{30DF11BA-22B8-4D65-A2E5-E5D3B37B6DD0}" type="slidenum">
              <a:rPr lang="en-US" sz="900">
                <a:solidFill>
                  <a:srgbClr val="767676"/>
                </a:solidFill>
                <a:latin typeface="Arial"/>
              </a:rPr>
              <a:t>17</a:t>
            </a:fld>
          </a:p>
        </p:txBody>
      </p:sp>
      <p:pic>
        <p:nvPicPr>
          <p:cNvPr id="4" name="Picture 3" descr="nvidia_foot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9416" y="6455664"/>
            <a:ext cx="667512" cy="23362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2124944" y="6547104"/>
            <a:ext cx="73152" cy="31089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10716768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CUDA Toolkit is required for RTX rendering, physics, and GPU compute workloads.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691640"/>
            <a:ext cx="5212080" cy="594360"/>
          </a:xfrm>
          <a:prstGeom prst="rect">
            <a:avLst/>
          </a:prstGeom>
          <a:solidFill>
            <a:srgbClr val="EEF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691640"/>
            <a:ext cx="64008" cy="59436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91640"/>
            <a:ext cx="4983480" cy="5943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1A1A1A"/>
                </a:solidFill>
                <a:latin typeface="Arial"/>
              </a:rPr>
              <a:t>Prerequisite:</a:t>
            </a:r>
            <a:r>
              <a:rPr sz="1300" b="0">
                <a:solidFill>
                  <a:srgbClr val="1A1A1A"/>
                </a:solidFill>
                <a:latin typeface="Arial"/>
              </a:rPr>
              <a:t> NVIDIA account — sign-in is required to download the package.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68880"/>
            <a:ext cx="521208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4E7A00"/>
                </a:solidFill>
                <a:latin typeface="Arial"/>
              </a:rPr>
              <a:t>Download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834640"/>
            <a:ext cx="5212080" cy="3429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spcAft>
                <a:spcPts val="800"/>
              </a:spcAft>
              <a:buClr>
                <a:srgbClr val="76B900"/>
              </a:buClr>
              <a:buFont typeface="Arial"/>
              <a:buAutoNum type="arabicPeriod"/>
            </a:pPr>
            <a:r>
              <a:rPr sz="1300" b="0">
                <a:solidFill>
                  <a:srgbClr val="1A1A1A"/>
                </a:solidFill>
                <a:latin typeface="Arial"/>
              </a:rPr>
              <a:t>Open the CUDA downloads page: </a:t>
            </a:r>
            <a:r>
              <a:rPr sz="1300" b="1">
                <a:solidFill>
                  <a:srgbClr val="1A1A1A"/>
                </a:solidFill>
                <a:latin typeface="Arial"/>
              </a:rPr>
              <a:t>Windows · x86_64 · Windows 11 or Windows Server · exe (local)</a:t>
            </a:r>
            <a:r>
              <a:rPr sz="1300" b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56032" indent="-256032">
              <a:spcAft>
                <a:spcPts val="800"/>
              </a:spcAft>
              <a:buClr>
                <a:srgbClr val="76B900"/>
              </a:buClr>
              <a:buFont typeface="Arial"/>
              <a:buAutoNum type="arabicPeriod"/>
            </a:pPr>
            <a:r>
              <a:rPr sz="1300" b="0">
                <a:solidFill>
                  <a:srgbClr val="1A1A1A"/>
                </a:solidFill>
                <a:latin typeface="Arial"/>
              </a:rPr>
              <a:t>Download </a:t>
            </a:r>
            <a:r>
              <a:rPr sz="1300" b="1">
                <a:solidFill>
                  <a:srgbClr val="1A1A1A"/>
                </a:solidFill>
                <a:latin typeface="Arial"/>
              </a:rPr>
              <a:t>CUDA Toolkit 13.2</a:t>
            </a:r>
            <a:r>
              <a:rPr sz="1300" b="0">
                <a:solidFill>
                  <a:srgbClr val="1A1A1A"/>
                </a:solidFill>
                <a:latin typeface="Arial"/>
              </a:rPr>
              <a:t> (same pin as the demo template).</a:t>
            </a:r>
          </a:p>
          <a:p>
            <a:pPr marL="256032" indent="-256032">
              <a:spcAft>
                <a:spcPts val="800"/>
              </a:spcAft>
              <a:buClr>
                <a:srgbClr val="76B900"/>
              </a:buClr>
              <a:buFont typeface="Arial"/>
              <a:buAutoNum type="arabicPeriod"/>
            </a:pPr>
            <a:r>
              <a:rPr sz="1300" b="0">
                <a:solidFill>
                  <a:srgbClr val="1A1A1A"/>
                </a:solidFill>
                <a:latin typeface="Arial"/>
              </a:rPr>
              <a:t>Run the installer </a:t>
            </a:r>
            <a:r>
              <a:rPr sz="1300" b="1">
                <a:solidFill>
                  <a:srgbClr val="1A1A1A"/>
                </a:solidFill>
                <a:latin typeface="Arial"/>
              </a:rPr>
              <a:t>as Administrator</a:t>
            </a:r>
            <a:r>
              <a:rPr sz="1300" b="0">
                <a:solidFill>
                  <a:srgbClr val="1A1A1A"/>
                </a:solidFill>
                <a:latin typeface="Arial"/>
              </a:rPr>
              <a:t>. Reboot if requested.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0488" y="1691640"/>
            <a:ext cx="521208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4E7A00"/>
                </a:solidFill>
                <a:latin typeface="Arial"/>
              </a:rPr>
              <a:t>Reference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0488" y="2057400"/>
            <a:ext cx="52120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200">
                <a:solidFill>
                  <a:srgbClr val="4E7A00"/>
                </a:solidFill>
                <a:latin typeface="Arial"/>
                <a:hlinkClick r:id="rId4"/>
              </a:rPr>
              <a:t>developer.nvidia.com/cuda-downloads  (Windows · x86_64 · exe local)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0488" y="2834640"/>
            <a:ext cx="5212080" cy="1005840"/>
          </a:xfrm>
          <a:prstGeom prst="rect">
            <a:avLst/>
          </a:prstGeom>
          <a:solidFill>
            <a:srgbClr val="FFF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0488" y="2834640"/>
            <a:ext cx="64008" cy="1005840"/>
          </a:xfrm>
          <a:prstGeom prst="rect">
            <a:avLst/>
          </a:prstGeom>
          <a:solidFill>
            <a:srgbClr val="E0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2834640"/>
            <a:ext cx="4983480" cy="10058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E09A00"/>
                </a:solidFill>
                <a:latin typeface="Arial"/>
              </a:rPr>
              <a:t>Ops note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Arial"/>
              </a:rPr>
              <a:t>The download is a </a:t>
            </a:r>
            <a:r>
              <a:rPr sz="1200" b="1">
                <a:solidFill>
                  <a:srgbClr val="1A1A1A"/>
                </a:solidFill>
                <a:latin typeface="Arial"/>
              </a:rPr>
              <a:t>manual browser action</a:t>
            </a:r>
            <a:r>
              <a:rPr sz="1200" b="0">
                <a:solidFill>
                  <a:srgbClr val="1A1A1A"/>
                </a:solidFill>
                <a:latin typeface="Arial"/>
              </a:rPr>
              <a:t> behind an NVIDIA login. Do not expect this step to be automated in IaC — bake it into the golden AMI instead.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167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000000"/>
                </a:solidFill>
                <a:latin typeface="Arial"/>
              </a:rPr>
              <a:t>INSTALL CUDA TOOLKIT —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35640" y="6419088"/>
            <a:ext cx="457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fld id="{B30F143E-40C4-47E7-A6F8-4AC032749663}" type="slidenum">
              <a:rPr lang="en-US" sz="900">
                <a:solidFill>
                  <a:srgbClr val="767676"/>
                </a:solidFill>
                <a:latin typeface="Arial"/>
              </a:rPr>
              <a:t>18</a:t>
            </a:fld>
          </a:p>
        </p:txBody>
      </p:sp>
      <p:pic>
        <p:nvPicPr>
          <p:cNvPr id="4" name="Picture 3" descr="nvidia_foot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9416" y="6455664"/>
            <a:ext cx="667512" cy="23362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2124944" y="6547104"/>
            <a:ext cx="73152" cy="31089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10716768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After install, confirm compiler and driver still agree: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5212080" cy="108077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691640"/>
            <a:ext cx="64008" cy="108077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91640"/>
            <a:ext cx="4983480" cy="108077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E6E6E6"/>
                </a:solidFill>
                <a:latin typeface="Consolas"/>
              </a:rPr>
              <a:t>nvidia-smi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E6E6E6"/>
                </a:solidFill>
                <a:latin typeface="Consolas"/>
              </a:rPr>
              <a:t>where nvcc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E6E6E6"/>
                </a:solidFill>
                <a:latin typeface="Consolas"/>
              </a:rPr>
              <a:t>nvcc --version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0488" y="1691640"/>
            <a:ext cx="521208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spcAft>
                <a:spcPts val="800"/>
              </a:spcAft>
              <a:buClr>
                <a:srgbClr val="76B900"/>
              </a:buClr>
              <a:buFont typeface="Arial"/>
              <a:buChar char="•"/>
            </a:pPr>
            <a:r>
              <a:rPr sz="1300" b="0">
                <a:solidFill>
                  <a:srgbClr val="2E6B1F"/>
                </a:solidFill>
                <a:latin typeface="Consolas"/>
              </a:rPr>
              <a:t>nvidia-smi</a:t>
            </a:r>
            <a:r>
              <a:rPr sz="1300" b="0">
                <a:solidFill>
                  <a:srgbClr val="1A1A1A"/>
                </a:solidFill>
                <a:latin typeface="Arial"/>
              </a:rPr>
              <a:t> → driver version and the </a:t>
            </a:r>
            <a:r>
              <a:rPr sz="1300" b="1">
                <a:solidFill>
                  <a:srgbClr val="1A1A1A"/>
                </a:solidFill>
                <a:latin typeface="Arial"/>
              </a:rPr>
              <a:t>CUDA version the driver supports</a:t>
            </a:r>
          </a:p>
          <a:p>
            <a:pPr marL="256032" indent="-256032">
              <a:spcAft>
                <a:spcPts val="800"/>
              </a:spcAft>
              <a:buClr>
                <a:srgbClr val="76B900"/>
              </a:buClr>
              <a:buFont typeface="Arial"/>
              <a:buChar char="•"/>
            </a:pPr>
            <a:r>
              <a:rPr sz="1300" b="0">
                <a:solidFill>
                  <a:srgbClr val="2E6B1F"/>
                </a:solidFill>
                <a:latin typeface="Consolas"/>
              </a:rPr>
              <a:t>where nvcc</a:t>
            </a:r>
            <a:r>
              <a:rPr sz="1300" b="0">
                <a:solidFill>
                  <a:srgbClr val="1A1A1A"/>
                </a:solidFill>
                <a:latin typeface="Arial"/>
              </a:rPr>
              <a:t> → </a:t>
            </a:r>
            <a:r>
              <a:rPr sz="1300" b="0">
                <a:solidFill>
                  <a:srgbClr val="2E6B1F"/>
                </a:solidFill>
                <a:latin typeface="Consolas"/>
              </a:rPr>
              <a:t>C:\Program Files\NVIDIA GPU Computing Toolkit\CUDA\v13.2\bin\nvcc.exe</a:t>
            </a:r>
          </a:p>
          <a:p>
            <a:pPr marL="256032" indent="-256032">
              <a:spcAft>
                <a:spcPts val="800"/>
              </a:spcAft>
              <a:buClr>
                <a:srgbClr val="76B900"/>
              </a:buClr>
              <a:buFont typeface="Arial"/>
              <a:buChar char="•"/>
            </a:pPr>
            <a:r>
              <a:rPr sz="1300" b="0">
                <a:solidFill>
                  <a:srgbClr val="2E6B1F"/>
                </a:solidFill>
                <a:latin typeface="Consolas"/>
              </a:rPr>
              <a:t>nvcc --version</a:t>
            </a:r>
            <a:r>
              <a:rPr sz="1300" b="0">
                <a:solidFill>
                  <a:srgbClr val="1A1A1A"/>
                </a:solidFill>
                <a:latin typeface="Arial"/>
              </a:rPr>
              <a:t> → </a:t>
            </a:r>
            <a:r>
              <a:rPr sz="1300" b="1">
                <a:solidFill>
                  <a:srgbClr val="1A1A1A"/>
                </a:solidFill>
                <a:latin typeface="Arial"/>
              </a:rPr>
              <a:t>release 13.2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931920"/>
            <a:ext cx="10716768" cy="822960"/>
          </a:xfrm>
          <a:prstGeom prst="rect">
            <a:avLst/>
          </a:prstGeom>
          <a:solidFill>
            <a:srgbClr val="EEF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3931920"/>
            <a:ext cx="64008" cy="82296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931920"/>
            <a:ext cx="10488168" cy="8229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Keep </a:t>
            </a:r>
            <a:r>
              <a:rPr sz="1300" b="1">
                <a:solidFill>
                  <a:srgbClr val="1A1A1A"/>
                </a:solidFill>
                <a:latin typeface="Arial"/>
              </a:rPr>
              <a:t>one</a:t>
            </a:r>
            <a:r>
              <a:rPr sz="1300" b="0">
                <a:solidFill>
                  <a:srgbClr val="1A1A1A"/>
                </a:solidFill>
                <a:latin typeface="Arial"/>
              </a:rPr>
              <a:t> known-good combo: </a:t>
            </a:r>
            <a:r>
              <a:rPr sz="1300" b="1">
                <a:solidFill>
                  <a:srgbClr val="1A1A1A"/>
                </a:solidFill>
                <a:latin typeface="Arial"/>
              </a:rPr>
              <a:t>G5 GRID driver + CUDA 13.2 + Kit build</a:t>
            </a:r>
            <a:r>
              <a:rPr sz="1300" b="0">
                <a:solidFill>
                  <a:srgbClr val="1A1A1A"/>
                </a:solidFill>
                <a:latin typeface="Arial"/>
              </a:rPr>
              <a:t>. Do not mix random Game Ready drivers on a cloud GPU.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ct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5806440"/>
            <a:ext cx="8229600" cy="64008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rial"/>
              </a:rPr>
              <a:t>OMNIVERSE KIT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167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000000"/>
                </a:solidFill>
                <a:latin typeface="Arial"/>
              </a:rPr>
              <a:t>LAUNCH OMNIVERSE KIT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35640" y="6419088"/>
            <a:ext cx="457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fld id="{3B64AB5A-8C00-48B1-B488-3FF6E20897AB}" type="slidenum">
              <a:rPr lang="en-US" sz="900">
                <a:solidFill>
                  <a:srgbClr val="767676"/>
                </a:solidFill>
                <a:latin typeface="Arial"/>
              </a:rPr>
              <a:t>20</a:t>
            </a:fld>
          </a:p>
        </p:txBody>
      </p:sp>
      <p:pic>
        <p:nvPicPr>
          <p:cNvPr id="4" name="Picture 3" descr="nvidia_foot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9416" y="6455664"/>
            <a:ext cx="667512" cy="23362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2124944" y="6547104"/>
            <a:ext cx="73152" cy="31089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10716768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4E7A00"/>
                </a:solidFill>
                <a:latin typeface="Arial"/>
              </a:rPr>
              <a:t>1 · Clone NVIDIA Omniverse kit-app-template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10716768" cy="72644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554480"/>
            <a:ext cx="64008" cy="72644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54480"/>
            <a:ext cx="10488168" cy="7264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>
              <a:spcAft>
                <a:spcPts val="200"/>
              </a:spcAft>
            </a:pPr>
            <a:r>
              <a:rPr sz="1200">
                <a:solidFill>
                  <a:srgbClr val="E6E6E6"/>
                </a:solidFill>
                <a:latin typeface="Consolas"/>
              </a:rPr>
              <a:t>git clone https://github.com/NVIDIA-Omniverse/kit-app-template.git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E6E6E6"/>
                </a:solidFill>
                <a:latin typeface="Consolas"/>
              </a:rPr>
              <a:t>cd kit-app-template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697480"/>
            <a:ext cx="3389376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4E7A00"/>
                </a:solidFill>
                <a:latin typeface="Arial"/>
              </a:rPr>
              <a:t>2 · Create a new application from template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063240"/>
            <a:ext cx="3389376" cy="49022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3063240"/>
            <a:ext cx="64008" cy="49022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063240"/>
            <a:ext cx="3160776" cy="4902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>
              <a:spcAft>
                <a:spcPts val="200"/>
              </a:spcAft>
            </a:pPr>
            <a:r>
              <a:rPr sz="1200">
                <a:solidFill>
                  <a:srgbClr val="E6E6E6"/>
                </a:solidFill>
                <a:latin typeface="Consolas"/>
              </a:rPr>
              <a:t>.\repo.bat template new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9496" y="2697480"/>
            <a:ext cx="3389376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4E7A00"/>
                </a:solidFill>
                <a:latin typeface="Arial"/>
              </a:rPr>
              <a:t>3 · Build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9496" y="3063240"/>
            <a:ext cx="3389376" cy="49022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9496" y="3063240"/>
            <a:ext cx="64008" cy="49022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6656" y="3063240"/>
            <a:ext cx="3160776" cy="4902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>
              <a:spcAft>
                <a:spcPts val="200"/>
              </a:spcAft>
            </a:pPr>
            <a:r>
              <a:rPr sz="1200">
                <a:solidFill>
                  <a:srgbClr val="E6E6E6"/>
                </a:solidFill>
                <a:latin typeface="Consolas"/>
              </a:rPr>
              <a:t>.\repo.bat build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13192" y="2697480"/>
            <a:ext cx="3389376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4E7A00"/>
                </a:solidFill>
                <a:latin typeface="Arial"/>
              </a:rPr>
              <a:t>4 · Launch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3192" y="3063240"/>
            <a:ext cx="3389376" cy="49022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3192" y="3063240"/>
            <a:ext cx="64008" cy="49022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50352" y="3063240"/>
            <a:ext cx="3160776" cy="4902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>
              <a:spcAft>
                <a:spcPts val="200"/>
              </a:spcAft>
            </a:pPr>
            <a:r>
              <a:rPr sz="1200">
                <a:solidFill>
                  <a:srgbClr val="E6E6E6"/>
                </a:solidFill>
                <a:latin typeface="Consolas"/>
              </a:rPr>
              <a:t>.\repo.bat launch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4343400"/>
            <a:ext cx="10716768" cy="822960"/>
          </a:xfrm>
          <a:prstGeom prst="rect">
            <a:avLst/>
          </a:prstGeom>
          <a:solidFill>
            <a:srgbClr val="EEF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4343400"/>
            <a:ext cx="64008" cy="82296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343400"/>
            <a:ext cx="10488168" cy="8229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Requires </a:t>
            </a:r>
            <a:r>
              <a:rPr sz="1300" b="1">
                <a:solidFill>
                  <a:srgbClr val="1A1A1A"/>
                </a:solidFill>
                <a:latin typeface="Arial"/>
              </a:rPr>
              <a:t>Git for Windows</a:t>
            </a:r>
            <a:r>
              <a:rPr sz="1300" b="0">
                <a:solidFill>
                  <a:srgbClr val="1A1A1A"/>
                </a:solidFill>
                <a:latin typeface="Arial"/>
              </a:rPr>
              <a:t> and a working GPU driver (</a:t>
            </a:r>
            <a:r>
              <a:rPr sz="1300" b="0">
                <a:solidFill>
                  <a:srgbClr val="2E6B1F"/>
                </a:solidFill>
                <a:latin typeface="Consolas"/>
              </a:rPr>
              <a:t>nvidia-smi</a:t>
            </a:r>
            <a:r>
              <a:rPr sz="1300" b="0">
                <a:solidFill>
                  <a:srgbClr val="1A1A1A"/>
                </a:solidFill>
                <a:latin typeface="Arial"/>
              </a:rPr>
              <a:t> OK) before first launch. First build downloads the Kit SDK from NGC — allow outbound 443.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167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000000"/>
                </a:solidFill>
                <a:latin typeface="Arial"/>
              </a:rPr>
              <a:t>LAUNCH OMNIVERSE KIT — FIRST-RUN WIZARD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35640" y="6419088"/>
            <a:ext cx="457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fld id="{BFCDE0B6-CC45-4379-B6B8-9428390D746A}" type="slidenum">
              <a:rPr lang="en-US" sz="900">
                <a:solidFill>
                  <a:srgbClr val="767676"/>
                </a:solidFill>
                <a:latin typeface="Arial"/>
              </a:rPr>
              <a:t>21</a:t>
            </a:fld>
          </a:p>
        </p:txBody>
      </p:sp>
      <p:pic>
        <p:nvPicPr>
          <p:cNvPr id="4" name="Picture 3" descr="nvidia_foot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9416" y="6455664"/>
            <a:ext cx="667512" cy="23362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2124944" y="6547104"/>
            <a:ext cx="73152" cy="31089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10716768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Complete the </a:t>
            </a:r>
            <a:r>
              <a:rPr sz="1500" b="1">
                <a:solidFill>
                  <a:srgbClr val="1A1A1A"/>
                </a:solidFill>
                <a:latin typeface="Arial"/>
              </a:rPr>
              <a:t>initial setup</a:t>
            </a:r>
            <a:r>
              <a:rPr sz="1500" b="0">
                <a:solidFill>
                  <a:srgbClr val="1A1A1A"/>
                </a:solidFill>
                <a:latin typeface="Arial"/>
              </a:rPr>
              <a:t> of the Kit application: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6126480" cy="4526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spcAft>
                <a:spcPts val="1000"/>
              </a:spcAft>
              <a:buClr>
                <a:srgbClr val="76B900"/>
              </a:buClr>
              <a:buFont typeface="Arial"/>
              <a:buAutoNum type="arabicPeriod"/>
            </a:pPr>
            <a:r>
              <a:rPr sz="1400" b="0">
                <a:solidFill>
                  <a:srgbClr val="1A1A1A"/>
                </a:solidFill>
                <a:latin typeface="Arial"/>
              </a:rPr>
              <a:t>Accept </a:t>
            </a:r>
            <a:r>
              <a:rPr sz="1400" b="1">
                <a:solidFill>
                  <a:srgbClr val="1A1A1A"/>
                </a:solidFill>
                <a:latin typeface="Arial"/>
              </a:rPr>
              <a:t>license and consent</a:t>
            </a:r>
            <a:r>
              <a:rPr sz="1400" b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56032" indent="-256032">
              <a:spcAft>
                <a:spcPts val="1000"/>
              </a:spcAft>
              <a:buClr>
                <a:srgbClr val="76B900"/>
              </a:buClr>
              <a:buFont typeface="Arial"/>
              <a:buAutoNum type="arabicPeriod"/>
            </a:pPr>
            <a:r>
              <a:rPr sz="1400" b="1">
                <a:solidFill>
                  <a:srgbClr val="1A1A1A"/>
                </a:solidFill>
                <a:latin typeface="Arial"/>
              </a:rPr>
              <a:t>Create Application</a:t>
            </a:r>
            <a:r>
              <a:rPr sz="1400" b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56032" indent="-256032">
              <a:spcAft>
                <a:spcPts val="1000"/>
              </a:spcAft>
              <a:buClr>
                <a:srgbClr val="76B900"/>
              </a:buClr>
              <a:buFont typeface="Arial"/>
              <a:buAutoNum type="arabicPeriod"/>
            </a:pPr>
            <a:r>
              <a:rPr sz="1400" b="0">
                <a:solidFill>
                  <a:srgbClr val="1A1A1A"/>
                </a:solidFill>
                <a:latin typeface="Arial"/>
              </a:rPr>
              <a:t>Set:</a:t>
            </a:r>
          </a:p>
          <a:p>
            <a:pPr marL="512064" indent="-256032">
              <a:spcAft>
                <a:spcPts val="600"/>
              </a:spcAft>
              <a:buClr>
                <a:srgbClr val="76B900"/>
              </a:buClr>
              <a:buFont typeface="Arial"/>
              <a:buChar char="–"/>
            </a:pPr>
            <a:r>
              <a:rPr sz="1300" b="0">
                <a:solidFill>
                  <a:srgbClr val="3C3C3C"/>
                </a:solidFill>
                <a:latin typeface="Arial"/>
              </a:rPr>
              <a:t>application name</a:t>
            </a:r>
          </a:p>
          <a:p>
            <a:pPr marL="512064" indent="-256032">
              <a:spcAft>
                <a:spcPts val="600"/>
              </a:spcAft>
              <a:buClr>
                <a:srgbClr val="76B900"/>
              </a:buClr>
              <a:buFont typeface="Arial"/>
              <a:buChar char="–"/>
            </a:pPr>
            <a:r>
              <a:rPr sz="1300" b="0">
                <a:solidFill>
                  <a:srgbClr val="2E6B1F"/>
                </a:solidFill>
                <a:latin typeface="Consolas"/>
              </a:rPr>
              <a:t>.kit</a:t>
            </a:r>
            <a:r>
              <a:rPr sz="1300" b="0">
                <a:solidFill>
                  <a:srgbClr val="3C3C3C"/>
                </a:solidFill>
                <a:latin typeface="Arial"/>
              </a:rPr>
              <a:t> file name</a:t>
            </a:r>
          </a:p>
          <a:p>
            <a:pPr marL="512064" indent="-256032">
              <a:spcAft>
                <a:spcPts val="600"/>
              </a:spcAft>
              <a:buClr>
                <a:srgbClr val="76B900"/>
              </a:buClr>
              <a:buFont typeface="Arial"/>
              <a:buChar char="–"/>
            </a:pPr>
            <a:r>
              <a:rPr sz="1300" b="0">
                <a:solidFill>
                  <a:srgbClr val="3C3C3C"/>
                </a:solidFill>
                <a:latin typeface="Arial"/>
              </a:rPr>
              <a:t>display name</a:t>
            </a:r>
          </a:p>
          <a:p>
            <a:pPr marL="512064" indent="-256032">
              <a:spcAft>
                <a:spcPts val="600"/>
              </a:spcAft>
              <a:buClr>
                <a:srgbClr val="76B900"/>
              </a:buClr>
              <a:buFont typeface="Arial"/>
              <a:buChar char="–"/>
            </a:pPr>
            <a:r>
              <a:rPr sz="1300" b="0">
                <a:solidFill>
                  <a:srgbClr val="3C3C3C"/>
                </a:solidFill>
                <a:latin typeface="Arial"/>
              </a:rPr>
              <a:t>application version</a:t>
            </a:r>
          </a:p>
          <a:p>
            <a:pPr marL="256032" indent="-256032">
              <a:spcAft>
                <a:spcPts val="1000"/>
              </a:spcAft>
              <a:buClr>
                <a:srgbClr val="76B900"/>
              </a:buClr>
              <a:buFont typeface="Arial"/>
              <a:buAutoNum type="arabicPeriod" startAt="4"/>
            </a:pPr>
            <a:r>
              <a:rPr sz="1400" b="0">
                <a:solidFill>
                  <a:srgbClr val="1A1A1A"/>
                </a:solidFill>
                <a:latin typeface="Arial"/>
              </a:rPr>
              <a:t>Leave remaining options at </a:t>
            </a:r>
            <a:r>
              <a:rPr sz="1400" b="1">
                <a:solidFill>
                  <a:srgbClr val="1A1A1A"/>
                </a:solidFill>
                <a:latin typeface="Arial"/>
              </a:rPr>
              <a:t>defaults</a:t>
            </a:r>
            <a:r>
              <a:rPr sz="1400" b="0">
                <a:solidFill>
                  <a:srgbClr val="1A1A1A"/>
                </a:solidFill>
                <a:latin typeface="Arial"/>
              </a:rPr>
              <a:t> for the first setup.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04888" y="1737360"/>
            <a:ext cx="4297680" cy="1097280"/>
          </a:xfrm>
          <a:prstGeom prst="rect">
            <a:avLst/>
          </a:prstGeom>
          <a:solidFill>
            <a:srgbClr val="EEF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04888" y="1737360"/>
            <a:ext cx="64008" cy="109728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42048" y="1737360"/>
            <a:ext cx="4069080" cy="10972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4E7A00"/>
                </a:solidFill>
                <a:latin typeface="Arial"/>
              </a:rPr>
              <a:t>Recommendation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Arial"/>
              </a:rPr>
              <a:t>Defaults are recommended for a first successful launch. Customise the </a:t>
            </a:r>
            <a:r>
              <a:rPr sz="1200" b="0">
                <a:solidFill>
                  <a:srgbClr val="2E6B1F"/>
                </a:solidFill>
                <a:latin typeface="Consolas"/>
              </a:rPr>
              <a:t>.kit</a:t>
            </a:r>
            <a:r>
              <a:rPr sz="1200" b="0">
                <a:solidFill>
                  <a:srgbClr val="1A1A1A"/>
                </a:solidFill>
                <a:latin typeface="Arial"/>
              </a:rPr>
              <a:t> file and extensions only after the UI has loaded once.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167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000000"/>
                </a:solidFill>
                <a:latin typeface="Arial"/>
              </a:rPr>
              <a:t>LAUNCH OMNIVERSE KIT — UI LOADED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35640" y="6419088"/>
            <a:ext cx="457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fld id="{31A47A2E-3912-40C4-955E-170738A40C49}" type="slidenum">
              <a:rPr lang="en-US" sz="900">
                <a:solidFill>
                  <a:srgbClr val="767676"/>
                </a:solidFill>
                <a:latin typeface="Arial"/>
              </a:rPr>
              <a:t>22</a:t>
            </a:fld>
          </a:p>
        </p:txBody>
      </p:sp>
      <p:pic>
        <p:nvPicPr>
          <p:cNvPr id="4" name="Picture 3" descr="nvidia_foot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9416" y="6455664"/>
            <a:ext cx="667512" cy="23362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2124944" y="6547104"/>
            <a:ext cx="73152" cy="31089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10716768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UI load confirms: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6126480" cy="4526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spcAft>
                <a:spcPts val="1200"/>
              </a:spcAft>
              <a:buClr>
                <a:srgbClr val="76B900"/>
              </a:buClr>
              <a:buFont typeface="Arial"/>
              <a:buChar char="•"/>
            </a:pPr>
            <a:r>
              <a:rPr sz="1500" b="0">
                <a:solidFill>
                  <a:srgbClr val="1A1A1A"/>
                </a:solidFill>
                <a:latin typeface="Arial"/>
              </a:rPr>
              <a:t>the application was </a:t>
            </a:r>
            <a:r>
              <a:rPr sz="1500" b="1">
                <a:solidFill>
                  <a:srgbClr val="1A1A1A"/>
                </a:solidFill>
                <a:latin typeface="Arial"/>
              </a:rPr>
              <a:t>created successfully</a:t>
            </a:r>
          </a:p>
          <a:p>
            <a:pPr marL="256032" indent="-256032">
              <a:spcAft>
                <a:spcPts val="1200"/>
              </a:spcAft>
              <a:buClr>
                <a:srgbClr val="76B900"/>
              </a:buClr>
              <a:buFont typeface="Arial"/>
              <a:buChar char="•"/>
            </a:pPr>
            <a:r>
              <a:rPr sz="1500" b="0">
                <a:solidFill>
                  <a:srgbClr val="1A1A1A"/>
                </a:solidFill>
                <a:latin typeface="Arial"/>
              </a:rPr>
              <a:t>the </a:t>
            </a:r>
            <a:r>
              <a:rPr sz="1500" b="1">
                <a:solidFill>
                  <a:srgbClr val="1A1A1A"/>
                </a:solidFill>
                <a:latin typeface="Arial"/>
              </a:rPr>
              <a:t>Kit runtime</a:t>
            </a:r>
            <a:r>
              <a:rPr sz="1500" b="0">
                <a:solidFill>
                  <a:srgbClr val="1A1A1A"/>
                </a:solidFill>
                <a:latin typeface="Arial"/>
              </a:rPr>
              <a:t> is working</a:t>
            </a:r>
          </a:p>
          <a:p>
            <a:pPr marL="256032" indent="-256032">
              <a:spcAft>
                <a:spcPts val="1200"/>
              </a:spcAft>
              <a:buClr>
                <a:srgbClr val="76B900"/>
              </a:buClr>
              <a:buFont typeface="Arial"/>
              <a:buChar char="•"/>
            </a:pPr>
            <a:r>
              <a:rPr sz="1500" b="0">
                <a:solidFill>
                  <a:srgbClr val="1A1A1A"/>
                </a:solidFill>
                <a:latin typeface="Arial"/>
              </a:rPr>
              <a:t>the environment is ready for </a:t>
            </a:r>
            <a:r>
              <a:rPr sz="1500" b="1">
                <a:solidFill>
                  <a:srgbClr val="1A1A1A"/>
                </a:solidFill>
                <a:latin typeface="Arial"/>
              </a:rPr>
              <a:t>USD scenes, extensions, and RTX</a:t>
            </a:r>
          </a:p>
          <a:p>
            <a:pPr marL="256032" indent="-256032">
              <a:spcAft>
                <a:spcPts val="1200"/>
              </a:spcAft>
              <a:buClr>
                <a:srgbClr val="76B900"/>
              </a:buClr>
              <a:buFont typeface="Arial"/>
              <a:buChar char="•"/>
            </a:pPr>
            <a:r>
              <a:rPr sz="1500" b="0">
                <a:solidFill>
                  <a:srgbClr val="1A1A1A"/>
                </a:solidFill>
                <a:latin typeface="Arial"/>
              </a:rPr>
              <a:t>next step: connect to </a:t>
            </a:r>
            <a:r>
              <a:rPr sz="1500" b="1">
                <a:solidFill>
                  <a:srgbClr val="1A1A1A"/>
                </a:solidFill>
                <a:latin typeface="Arial"/>
              </a:rPr>
              <a:t>Enterprise Nucleus</a:t>
            </a:r>
            <a:r>
              <a:rPr sz="1500" b="0">
                <a:solidFill>
                  <a:srgbClr val="1A1A1A"/>
                </a:solidFill>
                <a:latin typeface="Arial"/>
              </a:rPr>
              <a:t> for collaboration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104888" y="1737360"/>
            <a:ext cx="4297680" cy="1280160"/>
          </a:xfrm>
          <a:prstGeom prst="rect">
            <a:avLst/>
          </a:prstGeom>
          <a:solidFill>
            <a:srgbClr val="FFF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04888" y="1737360"/>
            <a:ext cx="64008" cy="1280160"/>
          </a:xfrm>
          <a:prstGeom prst="rect">
            <a:avLst/>
          </a:prstGeom>
          <a:solidFill>
            <a:srgbClr val="E0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42048" y="1737360"/>
            <a:ext cx="4069080" cy="12801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E09A00"/>
                </a:solidFill>
                <a:latin typeface="Arial"/>
              </a:rPr>
              <a:t>Nucleus placement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Arial"/>
              </a:rPr>
              <a:t>Nucleus is a </a:t>
            </a:r>
            <a:r>
              <a:rPr sz="1200" b="1">
                <a:solidFill>
                  <a:srgbClr val="1A1A1A"/>
                </a:solidFill>
                <a:latin typeface="Arial"/>
              </a:rPr>
              <a:t>separate service</a:t>
            </a:r>
            <a:r>
              <a:rPr sz="1200" b="0">
                <a:solidFill>
                  <a:srgbClr val="1A1A1A"/>
                </a:solidFill>
                <a:latin typeface="Arial"/>
              </a:rPr>
              <a:t> — typically a CPU instance with a persistent EBS volume and backups. Do not co-host it on the GPU workstation except for a tiny lab.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ct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5806440"/>
            <a:ext cx="8229600" cy="64008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rial"/>
              </a:rPr>
              <a:t>REFERENCES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167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000000"/>
                </a:solidFill>
                <a:latin typeface="Arial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35640" y="6419088"/>
            <a:ext cx="457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fld id="{783B26D4-B260-4880-A70C-D98BC4E1FD48}" type="slidenum">
              <a:rPr lang="en-US" sz="900">
                <a:solidFill>
                  <a:srgbClr val="767676"/>
                </a:solidFill>
                <a:latin typeface="Arial"/>
              </a:rPr>
              <a:t>24</a:t>
            </a:fld>
          </a:p>
        </p:txBody>
      </p:sp>
      <p:pic>
        <p:nvPicPr>
          <p:cNvPr id="4" name="Picture 3" descr="nvidia_foot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9416" y="6455664"/>
            <a:ext cx="667512" cy="23362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2124944" y="6547104"/>
            <a:ext cx="73152" cy="31089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188720"/>
          <a:ext cx="10716767" cy="4005072"/>
        </p:xfrm>
        <a:graphic>
          <a:graphicData uri="http://schemas.openxmlformats.org/drawingml/2006/table">
            <a:tbl>
              <a:tblPr/>
              <a:tblGrid>
                <a:gridCol w="2875230"/>
                <a:gridCol w="7841537"/>
              </a:tblGrid>
              <a:tr h="34747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Topic</a:t>
                      </a:r>
                    </a:p>
                  </a:txBody>
                  <a:tcPr marL="73152" marR="73152" marT="27432" marB="27432" anchor="ctr">
                    <a:solidFill>
                      <a:srgbClr val="2B2B2B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2B2B2B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Link</a:t>
                      </a:r>
                    </a:p>
                  </a:txBody>
                  <a:tcPr marL="73152" marR="73152" marT="27432" marB="27432" anchor="ctr">
                    <a:solidFill>
                      <a:srgbClr val="2B2B2B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2B2B2B"/>
                      </a:solidFill>
                      <a:prstDash val="solid"/>
                    </a:lnT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CUDA downloads (Win x64, local exe)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>
                          <a:solidFill>
                            <a:srgbClr val="4E7A00"/>
                          </a:solidFill>
                          <a:latin typeface="Arial"/>
                          <a:hlinkClick r:id="rId3"/>
                        </a:rPr>
                        <a:t>https://developer.nvidia.com/cuda-downloads?target_os=Windows&amp;target_arch=x86_64&amp;target_version=11&amp;target_type=exe_local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Omniverse Kit (NGC)</a:t>
                      </a:r>
                    </a:p>
                  </a:txBody>
                  <a:tcPr marL="73152" marR="73152" marT="27432" marB="27432" anchor="ctr">
                    <a:solidFill>
                      <a:srgbClr val="F5F5F5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>
                          <a:solidFill>
                            <a:srgbClr val="4E7A00"/>
                          </a:solidFill>
                          <a:latin typeface="Arial"/>
                          <a:hlinkClick r:id="rId4"/>
                        </a:rPr>
                        <a:t>https://catalog.ngc.nvidia.com/orgs/nvidia/teams/omniverse/collections/kit</a:t>
                      </a:r>
                    </a:p>
                  </a:txBody>
                  <a:tcPr marL="73152" marR="73152" marT="27432" marB="27432" anchor="ctr">
                    <a:solidFill>
                      <a:srgbClr val="F5F5F5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Enterprise Nucleus Server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>
                          <a:solidFill>
                            <a:srgbClr val="4E7A00"/>
                          </a:solidFill>
                          <a:latin typeface="Arial"/>
                          <a:hlinkClick r:id="rId5"/>
                        </a:rPr>
                        <a:t>https://catalog.ngc.nvidia.com/orgs/nvidia/teams/omniverse/collections/enterprise-nucleus/artifacts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kit-app-template</a:t>
                      </a:r>
                    </a:p>
                  </a:txBody>
                  <a:tcPr marL="73152" marR="73152" marT="27432" marB="27432" anchor="ctr">
                    <a:solidFill>
                      <a:srgbClr val="F5F5F5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>
                          <a:solidFill>
                            <a:srgbClr val="4E7A00"/>
                          </a:solidFill>
                          <a:latin typeface="Arial"/>
                          <a:hlinkClick r:id="rId6"/>
                        </a:rPr>
                        <a:t>https://github.com/NVIDIA-Omniverse/kit-app-template</a:t>
                      </a:r>
                    </a:p>
                  </a:txBody>
                  <a:tcPr marL="73152" marR="73152" marT="27432" marB="27432" anchor="ctr">
                    <a:solidFill>
                      <a:srgbClr val="F5F5F5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EC2 G5 (A10G)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>
                          <a:solidFill>
                            <a:srgbClr val="4E7A00"/>
                          </a:solidFill>
                          <a:latin typeface="Arial"/>
                          <a:hlinkClick r:id="rId7"/>
                        </a:rPr>
                        <a:t>https://aws.amazon.com/ec2/instance-types/g5/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On-Demand G / VT quota</a:t>
                      </a:r>
                    </a:p>
                  </a:txBody>
                  <a:tcPr marL="73152" marR="73152" marT="27432" marB="27432" anchor="ctr">
                    <a:solidFill>
                      <a:srgbClr val="F5F5F5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>
                          <a:solidFill>
                            <a:srgbClr val="4E7A00"/>
                          </a:solidFill>
                          <a:latin typeface="Arial"/>
                          <a:hlinkClick r:id="rId8"/>
                        </a:rPr>
                        <a:t>https://docs.aws.amazon.com/AWSEC2/latest/UserGuide/ec2-on-demand-instances.html</a:t>
                      </a:r>
                    </a:p>
                  </a:txBody>
                  <a:tcPr marL="73152" marR="73152" marT="27432" marB="27432" anchor="ctr">
                    <a:solidFill>
                      <a:srgbClr val="F5F5F5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NVIDIA drivers on Windows EC2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>
                          <a:solidFill>
                            <a:srgbClr val="4E7A00"/>
                          </a:solidFill>
                          <a:latin typeface="Arial"/>
                          <a:hlinkClick r:id="rId9"/>
                        </a:rPr>
                        <a:t>https://docs.aws.amazon.com/AWSEC2/latest/WindowsGuide/install-nvidia-driver.html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Azure N-series Windows drivers</a:t>
                      </a:r>
                    </a:p>
                  </a:txBody>
                  <a:tcPr marL="73152" marR="73152" marT="27432" marB="27432" anchor="ctr">
                    <a:solidFill>
                      <a:srgbClr val="F5F5F5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>
                          <a:solidFill>
                            <a:srgbClr val="4E7A00"/>
                          </a:solidFill>
                          <a:latin typeface="Arial"/>
                          <a:hlinkClick r:id="rId10"/>
                        </a:rPr>
                        <a:t>https://learn.microsoft.com/en-us/azure/virtual-machines/windows/n-series-driver-setup</a:t>
                      </a:r>
                    </a:p>
                  </a:txBody>
                  <a:tcPr marL="73152" marR="73152" marT="27432" marB="27432" anchor="ctr">
                    <a:solidFill>
                      <a:srgbClr val="F5F5F5"/>
                    </a:solidFill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ct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5806440"/>
            <a:ext cx="8229600" cy="64008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167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000000"/>
                </a:solidFill>
                <a:latin typeface="Arial"/>
              </a:rPr>
              <a:t>APPENDIX — RUNNING THIS IN 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35640" y="6419088"/>
            <a:ext cx="457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fld id="{F2115E48-7B6F-4213-9966-9329F6AFA458}" type="slidenum">
              <a:rPr lang="en-US" sz="900">
                <a:solidFill>
                  <a:srgbClr val="767676"/>
                </a:solidFill>
                <a:latin typeface="Arial"/>
              </a:rPr>
              <a:t>26</a:t>
            </a:fld>
          </a:p>
        </p:txBody>
      </p:sp>
      <p:pic>
        <p:nvPicPr>
          <p:cNvPr id="4" name="Picture 3" descr="nvidia_foot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9416" y="6455664"/>
            <a:ext cx="667512" cy="23362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2124944" y="6547104"/>
            <a:ext cx="73152" cy="31089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10716768" cy="4800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spcAft>
                <a:spcPts val="1400"/>
              </a:spcAft>
              <a:buClr>
                <a:srgbClr val="76B900"/>
              </a:buClr>
              <a:buFont typeface="Arial"/>
              <a:buChar char="•"/>
            </a:pPr>
            <a:r>
              <a:rPr sz="1500" b="1">
                <a:solidFill>
                  <a:srgbClr val="1A1A1A"/>
                </a:solidFill>
                <a:latin typeface="Arial"/>
              </a:rPr>
              <a:t>Quota first</a:t>
            </a:r>
            <a:r>
              <a:rPr sz="1500" b="0">
                <a:solidFill>
                  <a:srgbClr val="1A1A1A"/>
                </a:solidFill>
                <a:latin typeface="Arial"/>
              </a:rPr>
              <a:t>, then AMI, then instance. IaC cannot skip Service Quotas.</a:t>
            </a:r>
          </a:p>
          <a:p>
            <a:pPr marL="256032" indent="-256032">
              <a:spcAft>
                <a:spcPts val="1400"/>
              </a:spcAft>
              <a:buClr>
                <a:srgbClr val="76B900"/>
              </a:buClr>
              <a:buFont typeface="Arial"/>
              <a:buChar char="•"/>
            </a:pPr>
            <a:r>
              <a:rPr sz="1500" b="1">
                <a:solidFill>
                  <a:srgbClr val="1A1A1A"/>
                </a:solidFill>
                <a:latin typeface="Arial"/>
              </a:rPr>
              <a:t>Pin</a:t>
            </a:r>
            <a:r>
              <a:rPr sz="1500" b="0">
                <a:solidFill>
                  <a:srgbClr val="1A1A1A"/>
                </a:solidFill>
                <a:latin typeface="Arial"/>
              </a:rPr>
              <a:t> Region + AZ with G5 capacity; consider a </a:t>
            </a:r>
            <a:r>
              <a:rPr sz="1500" b="1">
                <a:solidFill>
                  <a:srgbClr val="1A1A1A"/>
                </a:solidFill>
                <a:latin typeface="Arial"/>
              </a:rPr>
              <a:t>Capacity Reservation</a:t>
            </a:r>
            <a:r>
              <a:rPr sz="1500" b="0">
                <a:solidFill>
                  <a:srgbClr val="1A1A1A"/>
                </a:solidFill>
                <a:latin typeface="Arial"/>
              </a:rPr>
              <a:t> for a workshop date.</a:t>
            </a:r>
          </a:p>
          <a:p>
            <a:pPr marL="256032" indent="-256032">
              <a:spcAft>
                <a:spcPts val="1400"/>
              </a:spcAft>
              <a:buClr>
                <a:srgbClr val="76B900"/>
              </a:buClr>
              <a:buFont typeface="Arial"/>
              <a:buChar char="•"/>
            </a:pPr>
            <a:r>
              <a:rPr sz="1500" b="1">
                <a:solidFill>
                  <a:srgbClr val="1A1A1A"/>
                </a:solidFill>
                <a:latin typeface="Arial"/>
              </a:rPr>
              <a:t>Stop</a:t>
            </a:r>
            <a:r>
              <a:rPr sz="1500" b="0">
                <a:solidFill>
                  <a:srgbClr val="1A1A1A"/>
                </a:solidFill>
                <a:latin typeface="Arial"/>
              </a:rPr>
              <a:t> G5 when idle — A10G On-Demand is expensive. Instance store is wiped on stop — keep USD on </a:t>
            </a:r>
            <a:r>
              <a:rPr sz="1500" b="1">
                <a:solidFill>
                  <a:srgbClr val="1A1A1A"/>
                </a:solidFill>
                <a:latin typeface="Arial"/>
              </a:rPr>
              <a:t>EBS</a:t>
            </a:r>
            <a:r>
              <a:rPr sz="1500" b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56032" indent="-256032">
              <a:spcAft>
                <a:spcPts val="1400"/>
              </a:spcAft>
              <a:buClr>
                <a:srgbClr val="76B900"/>
              </a:buClr>
              <a:buFont typeface="Arial"/>
              <a:buChar char="•"/>
            </a:pPr>
            <a:r>
              <a:rPr sz="1500" b="1">
                <a:solidFill>
                  <a:srgbClr val="1A1A1A"/>
                </a:solidFill>
                <a:latin typeface="Arial"/>
              </a:rPr>
              <a:t>Nucleus</a:t>
            </a:r>
            <a:r>
              <a:rPr sz="1500" b="0">
                <a:solidFill>
                  <a:srgbClr val="1A1A1A"/>
                </a:solidFill>
                <a:latin typeface="Arial"/>
              </a:rPr>
              <a:t> on a non-GPU instance with backups; Kit clients on G5.</a:t>
            </a:r>
          </a:p>
          <a:p>
            <a:pPr marL="256032" indent="-256032">
              <a:spcAft>
                <a:spcPts val="1400"/>
              </a:spcAft>
              <a:buClr>
                <a:srgbClr val="76B900"/>
              </a:buClr>
              <a:buFont typeface="Arial"/>
              <a:buChar char="•"/>
            </a:pPr>
            <a:r>
              <a:rPr sz="1500" b="1">
                <a:solidFill>
                  <a:srgbClr val="1A1A1A"/>
                </a:solidFill>
                <a:latin typeface="Arial"/>
              </a:rPr>
              <a:t>Do not</a:t>
            </a:r>
            <a:r>
              <a:rPr sz="1500" b="0">
                <a:solidFill>
                  <a:srgbClr val="1A1A1A"/>
                </a:solidFill>
                <a:latin typeface="Arial"/>
              </a:rPr>
              <a:t> put RDP on a public IP without CIDR lock + MFA jump host.</a:t>
            </a:r>
          </a:p>
          <a:p>
            <a:pPr marL="256032" indent="-256032">
              <a:spcAft>
                <a:spcPts val="1400"/>
              </a:spcAft>
              <a:buClr>
                <a:srgbClr val="76B900"/>
              </a:buClr>
              <a:buFont typeface="Arial"/>
              <a:buChar char="•"/>
            </a:pPr>
            <a:r>
              <a:rPr sz="1500" b="0">
                <a:solidFill>
                  <a:srgbClr val="1A1A1A"/>
                </a:solidFill>
                <a:latin typeface="Arial"/>
              </a:rPr>
              <a:t>Snapshot / AMI the golden image </a:t>
            </a:r>
            <a:r>
              <a:rPr sz="1500" b="1">
                <a:solidFill>
                  <a:srgbClr val="1A1A1A"/>
                </a:solidFill>
                <a:latin typeface="Arial"/>
              </a:rPr>
              <a:t>after</a:t>
            </a:r>
            <a:r>
              <a:rPr sz="1500" b="0">
                <a:solidFill>
                  <a:srgbClr val="1A1A1A"/>
                </a:solidFill>
                <a:latin typeface="Arial"/>
              </a:rPr>
              <a:t> GRID + CUDA 13.2 + Kit build succeed.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167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000000"/>
                </a:solidFill>
                <a:latin typeface="Arial"/>
              </a:rPr>
              <a:t>APPENDIX — FIRST-RUN VALIDATION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35640" y="6419088"/>
            <a:ext cx="457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fld id="{2A6663AA-A589-49D2-8B62-4A41DB95B42E}" type="slidenum">
              <a:rPr lang="en-US" sz="900">
                <a:solidFill>
                  <a:srgbClr val="767676"/>
                </a:solidFill>
                <a:latin typeface="Arial"/>
              </a:rPr>
              <a:t>27</a:t>
            </a:fld>
          </a:p>
        </p:txBody>
      </p:sp>
      <p:pic>
        <p:nvPicPr>
          <p:cNvPr id="4" name="Picture 3" descr="nvidia_foot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9416" y="6455664"/>
            <a:ext cx="667512" cy="23362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2124944" y="6547104"/>
            <a:ext cx="73152" cy="31089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5212080" cy="4800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spcAft>
                <a:spcPts val="1400"/>
              </a:spcAft>
              <a:buClr>
                <a:srgbClr val="76B900"/>
              </a:buClr>
              <a:buFont typeface="Arial"/>
              <a:buChar char="☐"/>
            </a:pPr>
            <a:r>
              <a:rPr sz="1400" b="0">
                <a:solidFill>
                  <a:srgbClr val="2E6B1F"/>
                </a:solidFill>
                <a:latin typeface="Consolas"/>
              </a:rPr>
              <a:t>Running On-Demand G and VT instances</a:t>
            </a:r>
            <a:r>
              <a:rPr sz="1400" b="0">
                <a:solidFill>
                  <a:srgbClr val="1A1A1A"/>
                </a:solidFill>
                <a:latin typeface="Arial"/>
              </a:rPr>
              <a:t> quota ≥ instance vCPUs in the target Region</a:t>
            </a:r>
          </a:p>
          <a:p>
            <a:pPr marL="256032" indent="-256032">
              <a:spcAft>
                <a:spcPts val="1400"/>
              </a:spcAft>
              <a:buClr>
                <a:srgbClr val="76B900"/>
              </a:buClr>
              <a:buFont typeface="Arial"/>
              <a:buChar char="☐"/>
            </a:pPr>
            <a:r>
              <a:rPr sz="1400" b="0">
                <a:solidFill>
                  <a:srgbClr val="1A1A1A"/>
                </a:solidFill>
                <a:latin typeface="Arial"/>
              </a:rPr>
              <a:t>Instance is </a:t>
            </a:r>
            <a:r>
              <a:rPr sz="1400" b="0">
                <a:solidFill>
                  <a:srgbClr val="2E6B1F"/>
                </a:solidFill>
                <a:latin typeface="Consolas"/>
              </a:rPr>
              <a:t>g5.2xlarge</a:t>
            </a:r>
            <a:r>
              <a:rPr sz="1400" b="0">
                <a:solidFill>
                  <a:srgbClr val="1A1A1A"/>
                </a:solidFill>
                <a:latin typeface="Arial"/>
              </a:rPr>
              <a:t> or </a:t>
            </a:r>
            <a:r>
              <a:rPr sz="1400" b="0">
                <a:solidFill>
                  <a:srgbClr val="2E6B1F"/>
                </a:solidFill>
                <a:latin typeface="Consolas"/>
              </a:rPr>
              <a:t>g5.4xlarge</a:t>
            </a:r>
            <a:r>
              <a:rPr sz="1400" b="0">
                <a:solidFill>
                  <a:srgbClr val="1A1A1A"/>
                </a:solidFill>
                <a:latin typeface="Arial"/>
              </a:rPr>
              <a:t> and </a:t>
            </a:r>
            <a:r>
              <a:rPr sz="1400" b="0">
                <a:solidFill>
                  <a:srgbClr val="2E6B1F"/>
                </a:solidFill>
                <a:latin typeface="Consolas"/>
              </a:rPr>
              <a:t>running</a:t>
            </a:r>
          </a:p>
          <a:p>
            <a:pPr marL="256032" indent="-256032">
              <a:spcAft>
                <a:spcPts val="1400"/>
              </a:spcAft>
              <a:buClr>
                <a:srgbClr val="76B900"/>
              </a:buClr>
              <a:buFont typeface="Arial"/>
              <a:buChar char="☐"/>
            </a:pPr>
            <a:r>
              <a:rPr sz="1400" b="0">
                <a:solidFill>
                  <a:srgbClr val="1A1A1A"/>
                </a:solidFill>
                <a:latin typeface="Arial"/>
              </a:rPr>
              <a:t>SG: RDP only from corp / VPN</a:t>
            </a:r>
          </a:p>
          <a:p>
            <a:pPr marL="256032" indent="-256032">
              <a:spcAft>
                <a:spcPts val="1400"/>
              </a:spcAft>
              <a:buClr>
                <a:srgbClr val="76B900"/>
              </a:buClr>
              <a:buFont typeface="Arial"/>
              <a:buChar char="☐"/>
            </a:pPr>
            <a:r>
              <a:rPr sz="1400" b="0">
                <a:solidFill>
                  <a:srgbClr val="1A1A1A"/>
                </a:solidFill>
                <a:latin typeface="Arial"/>
              </a:rPr>
              <a:t>GRID driver installed; reboot done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0488" y="1463040"/>
            <a:ext cx="5212080" cy="4800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spcAft>
                <a:spcPts val="1400"/>
              </a:spcAft>
              <a:buClr>
                <a:srgbClr val="76B900"/>
              </a:buClr>
              <a:buFont typeface="Arial"/>
              <a:buChar char="☐"/>
            </a:pPr>
            <a:r>
              <a:rPr sz="1400" b="0">
                <a:solidFill>
                  <a:srgbClr val="2E6B1F"/>
                </a:solidFill>
                <a:latin typeface="Consolas"/>
              </a:rPr>
              <a:t>nvidia-smi</a:t>
            </a:r>
            <a:r>
              <a:rPr sz="1400" b="0">
                <a:solidFill>
                  <a:srgbClr val="1A1A1A"/>
                </a:solidFill>
                <a:latin typeface="Arial"/>
              </a:rPr>
              <a:t> shows </a:t>
            </a:r>
            <a:r>
              <a:rPr sz="1400" b="1">
                <a:solidFill>
                  <a:srgbClr val="1A1A1A"/>
                </a:solidFill>
                <a:latin typeface="Arial"/>
              </a:rPr>
              <a:t>A10G</a:t>
            </a:r>
          </a:p>
          <a:p>
            <a:pPr marL="256032" indent="-256032">
              <a:spcAft>
                <a:spcPts val="1400"/>
              </a:spcAft>
              <a:buClr>
                <a:srgbClr val="76B900"/>
              </a:buClr>
              <a:buFont typeface="Arial"/>
              <a:buChar char="☐"/>
            </a:pPr>
            <a:r>
              <a:rPr sz="1400" b="0">
                <a:solidFill>
                  <a:srgbClr val="1A1A1A"/>
                </a:solidFill>
                <a:latin typeface="Arial"/>
              </a:rPr>
              <a:t>CUDA Toolkit </a:t>
            </a:r>
            <a:r>
              <a:rPr sz="1400" b="1">
                <a:solidFill>
                  <a:srgbClr val="1A1A1A"/>
                </a:solidFill>
                <a:latin typeface="Arial"/>
              </a:rPr>
              <a:t>13.2</a:t>
            </a:r>
            <a:r>
              <a:rPr sz="1400" b="0">
                <a:solidFill>
                  <a:srgbClr val="1A1A1A"/>
                </a:solidFill>
                <a:latin typeface="Arial"/>
              </a:rPr>
              <a:t>; </a:t>
            </a:r>
            <a:r>
              <a:rPr sz="1400" b="0">
                <a:solidFill>
                  <a:srgbClr val="2E6B1F"/>
                </a:solidFill>
                <a:latin typeface="Consolas"/>
              </a:rPr>
              <a:t>nvcc --version</a:t>
            </a:r>
          </a:p>
          <a:p>
            <a:pPr marL="256032" indent="-256032">
              <a:spcAft>
                <a:spcPts val="1400"/>
              </a:spcAft>
              <a:buClr>
                <a:srgbClr val="76B900"/>
              </a:buClr>
              <a:buFont typeface="Arial"/>
              <a:buChar char="☐"/>
            </a:pPr>
            <a:r>
              <a:rPr sz="1400" b="0">
                <a:solidFill>
                  <a:srgbClr val="2E6B1F"/>
                </a:solidFill>
                <a:latin typeface="Consolas"/>
              </a:rPr>
              <a:t>kit-app-template</a:t>
            </a:r>
            <a:r>
              <a:rPr sz="1400" b="0">
                <a:solidFill>
                  <a:srgbClr val="1A1A1A"/>
                </a:solidFill>
                <a:latin typeface="Arial"/>
              </a:rPr>
              <a:t> cloned; </a:t>
            </a:r>
            <a:r>
              <a:rPr sz="1400" b="0">
                <a:solidFill>
                  <a:srgbClr val="2E6B1F"/>
                </a:solidFill>
                <a:latin typeface="Consolas"/>
              </a:rPr>
              <a:t>.\repo.bat build</a:t>
            </a:r>
            <a:r>
              <a:rPr sz="1400" b="0">
                <a:solidFill>
                  <a:srgbClr val="1A1A1A"/>
                </a:solidFill>
                <a:latin typeface="Arial"/>
              </a:rPr>
              <a:t> / </a:t>
            </a:r>
            <a:r>
              <a:rPr sz="1400" b="0">
                <a:solidFill>
                  <a:srgbClr val="2E6B1F"/>
                </a:solidFill>
                <a:latin typeface="Consolas"/>
              </a:rPr>
              <a:t>launch</a:t>
            </a:r>
            <a:r>
              <a:rPr sz="1400" b="0">
                <a:solidFill>
                  <a:srgbClr val="1A1A1A"/>
                </a:solidFill>
                <a:latin typeface="Arial"/>
              </a:rPr>
              <a:t> succeeds</a:t>
            </a:r>
          </a:p>
          <a:p>
            <a:pPr marL="256032" indent="-256032">
              <a:spcAft>
                <a:spcPts val="1400"/>
              </a:spcAft>
              <a:buClr>
                <a:srgbClr val="76B900"/>
              </a:buClr>
              <a:buFont typeface="Arial"/>
              <a:buChar char="☐"/>
            </a:pPr>
            <a:r>
              <a:rPr sz="1400" b="0">
                <a:solidFill>
                  <a:srgbClr val="1A1A1A"/>
                </a:solidFill>
                <a:latin typeface="Arial"/>
              </a:rPr>
              <a:t>Kit UI loads; RTX viewport available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